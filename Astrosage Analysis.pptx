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1" r:id="rId18"/>
  </p:sldIdLst>
  <p:sldSz cx="18288000" cy="10287000"/>
  <p:notesSz cx="6858000" cy="9144000"/>
  <p:embeddedFontLst>
    <p:embeddedFont>
      <p:font typeface="Canva Sans" panose="020B0604020202020204" charset="0"/>
      <p:regular r:id="rId20"/>
    </p:embeddedFont>
    <p:embeddedFont>
      <p:font typeface="DM Sans" panose="020F0502020204030204" pitchFamily="2" charset="0"/>
      <p:regular r:id="rId21"/>
      <p:bold r:id="rId22"/>
      <p:boldItalic r:id="rId23"/>
    </p:embeddedFont>
    <p:embeddedFont>
      <p:font typeface="Telegraf Bold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shade val="30000"/>
                  <a:satMod val="115000"/>
                </a:schemeClr>
              </a:gs>
              <a:gs pos="50000">
                <a:schemeClr val="accent6">
                  <a:shade val="67500"/>
                  <a:satMod val="115000"/>
                </a:schemeClr>
              </a:gs>
              <a:gs pos="100000">
                <a:schemeClr val="accent6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13"/>
          <p:cNvSpPr/>
          <p:nvPr/>
        </p:nvSpPr>
        <p:spPr>
          <a:xfrm>
            <a:off x="643396" y="1636268"/>
            <a:ext cx="9009410" cy="6082798"/>
          </a:xfrm>
          <a:custGeom>
            <a:avLst/>
            <a:gdLst/>
            <a:ahLst/>
            <a:cxnLst/>
            <a:rect l="l" t="t" r="r" b="b"/>
            <a:pathLst>
              <a:path w="3286657" h="2219021" extrusionOk="0">
                <a:moveTo>
                  <a:pt x="0" y="0"/>
                </a:moveTo>
                <a:lnTo>
                  <a:pt x="3286657" y="0"/>
                </a:lnTo>
                <a:lnTo>
                  <a:pt x="3286657" y="2219021"/>
                </a:lnTo>
                <a:lnTo>
                  <a:pt x="0" y="22190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6" name="Google Shape;86;p13"/>
          <p:cNvSpPr/>
          <p:nvPr/>
        </p:nvSpPr>
        <p:spPr>
          <a:xfrm flipH="1">
            <a:off x="-2156129" y="8872350"/>
            <a:ext cx="6662470" cy="1611106"/>
          </a:xfrm>
          <a:custGeom>
            <a:avLst/>
            <a:gdLst/>
            <a:ahLst/>
            <a:cxnLst/>
            <a:rect l="l" t="t" r="r" b="b"/>
            <a:pathLst>
              <a:path w="6662470" h="1611106" extrusionOk="0">
                <a:moveTo>
                  <a:pt x="6662470" y="0"/>
                </a:moveTo>
                <a:lnTo>
                  <a:pt x="0" y="0"/>
                </a:lnTo>
                <a:lnTo>
                  <a:pt x="0" y="1611107"/>
                </a:lnTo>
                <a:lnTo>
                  <a:pt x="6662470" y="1611107"/>
                </a:lnTo>
                <a:lnTo>
                  <a:pt x="666247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7" name="Google Shape;87;p13"/>
          <p:cNvSpPr/>
          <p:nvPr/>
        </p:nvSpPr>
        <p:spPr>
          <a:xfrm flipH="1">
            <a:off x="14791434" y="-196457"/>
            <a:ext cx="5652695" cy="1366924"/>
          </a:xfrm>
          <a:custGeom>
            <a:avLst/>
            <a:gdLst/>
            <a:ahLst/>
            <a:cxnLst/>
            <a:rect l="l" t="t" r="r" b="b"/>
            <a:pathLst>
              <a:path w="5652695" h="1366924" extrusionOk="0">
                <a:moveTo>
                  <a:pt x="5652695" y="0"/>
                </a:moveTo>
                <a:lnTo>
                  <a:pt x="0" y="0"/>
                </a:lnTo>
                <a:lnTo>
                  <a:pt x="0" y="1366925"/>
                </a:lnTo>
                <a:lnTo>
                  <a:pt x="5652695" y="1366925"/>
                </a:lnTo>
                <a:lnTo>
                  <a:pt x="5652695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Google Shape;88;p13"/>
          <p:cNvSpPr/>
          <p:nvPr/>
        </p:nvSpPr>
        <p:spPr>
          <a:xfrm>
            <a:off x="10306052" y="1636268"/>
            <a:ext cx="7087021" cy="7701883"/>
          </a:xfrm>
          <a:custGeom>
            <a:avLst/>
            <a:gdLst/>
            <a:ahLst/>
            <a:cxnLst/>
            <a:rect l="l" t="t" r="r" b="b"/>
            <a:pathLst>
              <a:path w="2585364" h="2809668" extrusionOk="0">
                <a:moveTo>
                  <a:pt x="0" y="0"/>
                </a:moveTo>
                <a:lnTo>
                  <a:pt x="2585364" y="0"/>
                </a:lnTo>
                <a:lnTo>
                  <a:pt x="2585364" y="2809668"/>
                </a:lnTo>
                <a:lnTo>
                  <a:pt x="0" y="28096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Google Shape;89;p13"/>
          <p:cNvSpPr/>
          <p:nvPr/>
        </p:nvSpPr>
        <p:spPr>
          <a:xfrm>
            <a:off x="16321054" y="2395907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Google Shape;90;p13"/>
          <p:cNvSpPr/>
          <p:nvPr/>
        </p:nvSpPr>
        <p:spPr>
          <a:xfrm>
            <a:off x="11291737" y="2785076"/>
            <a:ext cx="5029317" cy="4425739"/>
          </a:xfrm>
          <a:custGeom>
            <a:avLst/>
            <a:gdLst/>
            <a:ahLst/>
            <a:cxnLst/>
            <a:rect l="l" t="t" r="r" b="b"/>
            <a:pathLst>
              <a:path w="5029317" h="4425739" extrusionOk="0">
                <a:moveTo>
                  <a:pt x="0" y="0"/>
                </a:moveTo>
                <a:lnTo>
                  <a:pt x="5029317" y="0"/>
                </a:lnTo>
                <a:lnTo>
                  <a:pt x="5029317" y="4425739"/>
                </a:lnTo>
                <a:lnTo>
                  <a:pt x="0" y="4425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3887" b="-974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Google Shape;91;p13"/>
          <p:cNvSpPr/>
          <p:nvPr/>
        </p:nvSpPr>
        <p:spPr>
          <a:xfrm rot="-203414">
            <a:off x="11173930" y="3499519"/>
            <a:ext cx="321948" cy="461574"/>
          </a:xfrm>
          <a:custGeom>
            <a:avLst/>
            <a:gdLst/>
            <a:ahLst/>
            <a:cxnLst/>
            <a:rect l="l" t="t" r="r" b="b"/>
            <a:pathLst>
              <a:path w="321948" h="461574" extrusionOk="0">
                <a:moveTo>
                  <a:pt x="0" y="0"/>
                </a:moveTo>
                <a:lnTo>
                  <a:pt x="321948" y="0"/>
                </a:lnTo>
                <a:lnTo>
                  <a:pt x="321948" y="461574"/>
                </a:lnTo>
                <a:lnTo>
                  <a:pt x="0" y="461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Google Shape;92;p13"/>
          <p:cNvSpPr txBox="1"/>
          <p:nvPr/>
        </p:nvSpPr>
        <p:spPr>
          <a:xfrm>
            <a:off x="1437079" y="3105248"/>
            <a:ext cx="8477700" cy="27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39" b="1" dirty="0">
                <a:solidFill>
                  <a:srgbClr val="DE570E"/>
                </a:solidFill>
              </a:rPr>
              <a:t>   </a:t>
            </a:r>
            <a:r>
              <a:rPr lang="en-US" sz="8839" b="1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Astrosage </a:t>
            </a:r>
            <a:endParaRPr sz="8839" b="1" i="0" u="none" strike="noStrike" cap="none" dirty="0">
              <a:solidFill>
                <a:srgbClr val="DE57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39" b="1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     Analysis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1175106" y="6598320"/>
            <a:ext cx="8477700" cy="466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25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25. 06. 202</a:t>
            </a:r>
            <a:r>
              <a:rPr lang="en-US" sz="2525" b="1" dirty="0">
                <a:latin typeface="DM Sans"/>
                <a:ea typeface="DM Sans"/>
                <a:cs typeface="DM Sans"/>
                <a:sym typeface="DM Sans"/>
              </a:rPr>
              <a:t>6</a:t>
            </a:r>
            <a:endParaRPr dirty="0"/>
          </a:p>
        </p:txBody>
      </p:sp>
      <p:sp>
        <p:nvSpPr>
          <p:cNvPr id="95" name="Google Shape;95;p13"/>
          <p:cNvSpPr/>
          <p:nvPr/>
        </p:nvSpPr>
        <p:spPr>
          <a:xfrm flipH="1">
            <a:off x="14967143" y="8829179"/>
            <a:ext cx="4111803" cy="1457821"/>
          </a:xfrm>
          <a:custGeom>
            <a:avLst/>
            <a:gdLst/>
            <a:ahLst/>
            <a:cxnLst/>
            <a:rect l="l" t="t" r="r" b="b"/>
            <a:pathLst>
              <a:path w="4111803" h="1457821" extrusionOk="0">
                <a:moveTo>
                  <a:pt x="4111804" y="0"/>
                </a:moveTo>
                <a:lnTo>
                  <a:pt x="0" y="0"/>
                </a:lnTo>
                <a:lnTo>
                  <a:pt x="0" y="1457821"/>
                </a:lnTo>
                <a:lnTo>
                  <a:pt x="4111804" y="1457821"/>
                </a:lnTo>
                <a:lnTo>
                  <a:pt x="4111804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FBF82F-73DA-C446-1437-C9BE46033C82}"/>
              </a:ext>
            </a:extLst>
          </p:cNvPr>
          <p:cNvSpPr txBox="1"/>
          <p:nvPr/>
        </p:nvSpPr>
        <p:spPr>
          <a:xfrm>
            <a:off x="4169865" y="5895494"/>
            <a:ext cx="24881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Ram Kumar</a:t>
            </a:r>
            <a:endParaRPr lang="en-IN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819925" y="446540"/>
            <a:ext cx="16439378" cy="2209418"/>
          </a:xfrm>
          <a:custGeom>
            <a:avLst/>
            <a:gdLst/>
            <a:ahLst/>
            <a:cxnLst/>
            <a:rect l="l" t="t" r="r" b="b"/>
            <a:pathLst>
              <a:path w="5997129" h="806001" extrusionOk="0">
                <a:moveTo>
                  <a:pt x="0" y="0"/>
                </a:moveTo>
                <a:lnTo>
                  <a:pt x="5997129" y="0"/>
                </a:lnTo>
                <a:lnTo>
                  <a:pt x="5997129" y="806001"/>
                </a:lnTo>
                <a:lnTo>
                  <a:pt x="0" y="8060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ogle Shape;101;p14"/>
          <p:cNvSpPr/>
          <p:nvPr/>
        </p:nvSpPr>
        <p:spPr>
          <a:xfrm>
            <a:off x="11444651" y="9592729"/>
            <a:ext cx="7147788" cy="1728465"/>
          </a:xfrm>
          <a:custGeom>
            <a:avLst/>
            <a:gdLst/>
            <a:ahLst/>
            <a:cxnLst/>
            <a:rect l="l" t="t" r="r" b="b"/>
            <a:pathLst>
              <a:path w="7147788" h="1728465" extrusionOk="0">
                <a:moveTo>
                  <a:pt x="0" y="0"/>
                </a:moveTo>
                <a:lnTo>
                  <a:pt x="7147787" y="0"/>
                </a:lnTo>
                <a:lnTo>
                  <a:pt x="7147787" y="1728465"/>
                </a:lnTo>
                <a:lnTo>
                  <a:pt x="0" y="17284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Google Shape;102;p14"/>
          <p:cNvSpPr/>
          <p:nvPr/>
        </p:nvSpPr>
        <p:spPr>
          <a:xfrm>
            <a:off x="11702764" y="8942224"/>
            <a:ext cx="573798" cy="822649"/>
          </a:xfrm>
          <a:custGeom>
            <a:avLst/>
            <a:gdLst/>
            <a:ahLst/>
            <a:cxnLst/>
            <a:rect l="l" t="t" r="r" b="b"/>
            <a:pathLst>
              <a:path w="573798" h="822649" extrusionOk="0">
                <a:moveTo>
                  <a:pt x="0" y="0"/>
                </a:moveTo>
                <a:lnTo>
                  <a:pt x="573798" y="0"/>
                </a:lnTo>
                <a:lnTo>
                  <a:pt x="573798" y="822649"/>
                </a:lnTo>
                <a:lnTo>
                  <a:pt x="0" y="822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Google Shape;103;p14"/>
          <p:cNvSpPr/>
          <p:nvPr/>
        </p:nvSpPr>
        <p:spPr>
          <a:xfrm>
            <a:off x="3318882" y="-411324"/>
            <a:ext cx="573798" cy="822649"/>
          </a:xfrm>
          <a:custGeom>
            <a:avLst/>
            <a:gdLst/>
            <a:ahLst/>
            <a:cxnLst/>
            <a:rect l="l" t="t" r="r" b="b"/>
            <a:pathLst>
              <a:path w="573798" h="822649" extrusionOk="0">
                <a:moveTo>
                  <a:pt x="0" y="0"/>
                </a:moveTo>
                <a:lnTo>
                  <a:pt x="573798" y="0"/>
                </a:lnTo>
                <a:lnTo>
                  <a:pt x="573798" y="822648"/>
                </a:lnTo>
                <a:lnTo>
                  <a:pt x="0" y="822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Google Shape;104;p14"/>
          <p:cNvSpPr/>
          <p:nvPr/>
        </p:nvSpPr>
        <p:spPr>
          <a:xfrm>
            <a:off x="-608297" y="158885"/>
            <a:ext cx="3927179" cy="1392364"/>
          </a:xfrm>
          <a:custGeom>
            <a:avLst/>
            <a:gdLst/>
            <a:ahLst/>
            <a:cxnLst/>
            <a:rect l="l" t="t" r="r" b="b"/>
            <a:pathLst>
              <a:path w="3927179" h="1392364" extrusionOk="0">
                <a:moveTo>
                  <a:pt x="0" y="0"/>
                </a:moveTo>
                <a:lnTo>
                  <a:pt x="3927179" y="0"/>
                </a:lnTo>
                <a:lnTo>
                  <a:pt x="3927179" y="1392363"/>
                </a:lnTo>
                <a:lnTo>
                  <a:pt x="0" y="13923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05" name="Google Shape;105;p14"/>
          <p:cNvGrpSpPr/>
          <p:nvPr/>
        </p:nvGrpSpPr>
        <p:grpSpPr>
          <a:xfrm>
            <a:off x="679970" y="2035212"/>
            <a:ext cx="3494859" cy="3880065"/>
            <a:chOff x="0" y="-241102"/>
            <a:chExt cx="4659812" cy="5173420"/>
          </a:xfrm>
        </p:grpSpPr>
        <p:grpSp>
          <p:nvGrpSpPr>
            <p:cNvPr id="106" name="Google Shape;106;p14"/>
            <p:cNvGrpSpPr/>
            <p:nvPr/>
          </p:nvGrpSpPr>
          <p:grpSpPr>
            <a:xfrm>
              <a:off x="0" y="-241102"/>
              <a:ext cx="4659812" cy="5173420"/>
              <a:chOff x="0" y="-47625"/>
              <a:chExt cx="920457" cy="1021910"/>
            </a:xfrm>
          </p:grpSpPr>
          <p:sp>
            <p:nvSpPr>
              <p:cNvPr id="107" name="Google Shape;107;p14"/>
              <p:cNvSpPr/>
              <p:nvPr/>
            </p:nvSpPr>
            <p:spPr>
              <a:xfrm>
                <a:off x="0" y="0"/>
                <a:ext cx="920457" cy="974285"/>
              </a:xfrm>
              <a:custGeom>
                <a:avLst/>
                <a:gdLst/>
                <a:ahLst/>
                <a:cxnLst/>
                <a:rect l="l" t="t" r="r" b="b"/>
                <a:pathLst>
                  <a:path w="920457" h="974285" extrusionOk="0">
                    <a:moveTo>
                      <a:pt x="112977" y="0"/>
                    </a:moveTo>
                    <a:lnTo>
                      <a:pt x="807480" y="0"/>
                    </a:lnTo>
                    <a:cubicBezTo>
                      <a:pt x="869875" y="0"/>
                      <a:pt x="920457" y="50581"/>
                      <a:pt x="920457" y="112977"/>
                    </a:cubicBezTo>
                    <a:lnTo>
                      <a:pt x="920457" y="861308"/>
                    </a:lnTo>
                    <a:cubicBezTo>
                      <a:pt x="920457" y="923704"/>
                      <a:pt x="869875" y="974285"/>
                      <a:pt x="807480" y="974285"/>
                    </a:cubicBezTo>
                    <a:lnTo>
                      <a:pt x="112977" y="974285"/>
                    </a:lnTo>
                    <a:cubicBezTo>
                      <a:pt x="50581" y="974285"/>
                      <a:pt x="0" y="923704"/>
                      <a:pt x="0" y="861308"/>
                    </a:cubicBezTo>
                    <a:lnTo>
                      <a:pt x="0" y="112977"/>
                    </a:lnTo>
                    <a:cubicBezTo>
                      <a:pt x="0" y="50581"/>
                      <a:pt x="50581" y="0"/>
                      <a:pt x="112977" y="0"/>
                    </a:cubicBezTo>
                    <a:close/>
                  </a:path>
                </a:pathLst>
              </a:custGeom>
              <a:solidFill>
                <a:srgbClr val="DE57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4"/>
              <p:cNvSpPr txBox="1"/>
              <p:nvPr/>
            </p:nvSpPr>
            <p:spPr>
              <a:xfrm>
                <a:off x="0" y="-47625"/>
                <a:ext cx="920457" cy="10219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" name="Google Shape;109;p14"/>
            <p:cNvSpPr/>
            <p:nvPr/>
          </p:nvSpPr>
          <p:spPr>
            <a:xfrm>
              <a:off x="611852" y="353819"/>
              <a:ext cx="3436108" cy="4224681"/>
            </a:xfrm>
            <a:custGeom>
              <a:avLst/>
              <a:gdLst/>
              <a:ahLst/>
              <a:cxnLst/>
              <a:rect l="l" t="t" r="r" b="b"/>
              <a:pathLst>
                <a:path w="510944" h="628203" extrusionOk="0">
                  <a:moveTo>
                    <a:pt x="69095" y="0"/>
                  </a:moveTo>
                  <a:lnTo>
                    <a:pt x="441848" y="0"/>
                  </a:lnTo>
                  <a:cubicBezTo>
                    <a:pt x="460174" y="0"/>
                    <a:pt x="477748" y="7280"/>
                    <a:pt x="490706" y="20238"/>
                  </a:cubicBezTo>
                  <a:cubicBezTo>
                    <a:pt x="503664" y="33195"/>
                    <a:pt x="510944" y="50770"/>
                    <a:pt x="510944" y="69095"/>
                  </a:cubicBezTo>
                  <a:lnTo>
                    <a:pt x="510944" y="559108"/>
                  </a:lnTo>
                  <a:cubicBezTo>
                    <a:pt x="510944" y="577433"/>
                    <a:pt x="503664" y="595008"/>
                    <a:pt x="490706" y="607966"/>
                  </a:cubicBezTo>
                  <a:cubicBezTo>
                    <a:pt x="477748" y="620924"/>
                    <a:pt x="460174" y="628203"/>
                    <a:pt x="441848" y="628203"/>
                  </a:cubicBezTo>
                  <a:lnTo>
                    <a:pt x="69095" y="628203"/>
                  </a:lnTo>
                  <a:cubicBezTo>
                    <a:pt x="50770" y="628203"/>
                    <a:pt x="33195" y="620924"/>
                    <a:pt x="20238" y="607966"/>
                  </a:cubicBezTo>
                  <a:cubicBezTo>
                    <a:pt x="7280" y="595008"/>
                    <a:pt x="0" y="577433"/>
                    <a:pt x="0" y="559108"/>
                  </a:cubicBezTo>
                  <a:lnTo>
                    <a:pt x="0" y="69095"/>
                  </a:lnTo>
                  <a:cubicBezTo>
                    <a:pt x="0" y="50770"/>
                    <a:pt x="7280" y="33195"/>
                    <a:pt x="20238" y="20238"/>
                  </a:cubicBezTo>
                  <a:cubicBezTo>
                    <a:pt x="33195" y="7280"/>
                    <a:pt x="50770" y="0"/>
                    <a:pt x="69095" y="0"/>
                  </a:cubicBez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11473" r="-11473"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14"/>
          <p:cNvSpPr/>
          <p:nvPr/>
        </p:nvSpPr>
        <p:spPr>
          <a:xfrm>
            <a:off x="12552993" y="6208782"/>
            <a:ext cx="5098426" cy="3114675"/>
          </a:xfrm>
          <a:custGeom>
            <a:avLst/>
            <a:gdLst/>
            <a:ahLst/>
            <a:cxnLst/>
            <a:rect l="l" t="t" r="r" b="b"/>
            <a:pathLst>
              <a:path w="5098426" h="3114675" extrusionOk="0">
                <a:moveTo>
                  <a:pt x="0" y="0"/>
                </a:moveTo>
                <a:lnTo>
                  <a:pt x="5098426" y="0"/>
                </a:lnTo>
                <a:lnTo>
                  <a:pt x="5098426" y="3114675"/>
                </a:lnTo>
                <a:lnTo>
                  <a:pt x="0" y="3114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Google Shape;111;p14"/>
          <p:cNvSpPr txBox="1"/>
          <p:nvPr/>
        </p:nvSpPr>
        <p:spPr>
          <a:xfrm>
            <a:off x="2223020" y="962025"/>
            <a:ext cx="13395565" cy="1089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b="1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Introduction to Astrosage</a:t>
            </a:r>
            <a:endParaRPr dirty="0"/>
          </a:p>
        </p:txBody>
      </p:sp>
      <p:sp>
        <p:nvSpPr>
          <p:cNvPr id="112" name="Google Shape;112;p14"/>
          <p:cNvSpPr txBox="1"/>
          <p:nvPr/>
        </p:nvSpPr>
        <p:spPr>
          <a:xfrm>
            <a:off x="5028266" y="2875032"/>
            <a:ext cx="10590320" cy="233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0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AstroSage is a website and app that provides astrology services, including horoscope matching, birth chart generation, and AI astrologers.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1028700" y="6562665"/>
            <a:ext cx="9887184" cy="1114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48" b="0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AstroSage is used by many astrologers to create birth charts and match horoscopes.</a:t>
            </a:r>
            <a:endParaRPr dirty="0"/>
          </a:p>
        </p:txBody>
      </p:sp>
      <p:sp>
        <p:nvSpPr>
          <p:cNvPr id="114" name="Google Shape;114;p14"/>
          <p:cNvSpPr txBox="1"/>
          <p:nvPr/>
        </p:nvSpPr>
        <p:spPr>
          <a:xfrm>
            <a:off x="1028700" y="7825438"/>
            <a:ext cx="10046855" cy="1528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82" b="0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AstroSage is used by Hindus to make decisions about marriage, opening a business, or moving to a new home 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24354" r="-1468" b="-56034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Google Shape;120;p15"/>
          <p:cNvSpPr/>
          <p:nvPr/>
        </p:nvSpPr>
        <p:spPr>
          <a:xfrm>
            <a:off x="895970" y="291782"/>
            <a:ext cx="9009410" cy="1907038"/>
          </a:xfrm>
          <a:custGeom>
            <a:avLst/>
            <a:gdLst/>
            <a:ahLst/>
            <a:cxnLst/>
            <a:rect l="l" t="t" r="r" b="b"/>
            <a:pathLst>
              <a:path w="3286657" h="695693" extrusionOk="0">
                <a:moveTo>
                  <a:pt x="0" y="0"/>
                </a:moveTo>
                <a:lnTo>
                  <a:pt x="3286657" y="0"/>
                </a:lnTo>
                <a:lnTo>
                  <a:pt x="3286657" y="695693"/>
                </a:lnTo>
                <a:lnTo>
                  <a:pt x="0" y="6956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Google Shape;121;p15"/>
          <p:cNvSpPr/>
          <p:nvPr/>
        </p:nvSpPr>
        <p:spPr>
          <a:xfrm>
            <a:off x="516595" y="2890478"/>
            <a:ext cx="9009410" cy="5787794"/>
          </a:xfrm>
          <a:custGeom>
            <a:avLst/>
            <a:gdLst/>
            <a:ahLst/>
            <a:cxnLst/>
            <a:rect l="l" t="t" r="r" b="b"/>
            <a:pathLst>
              <a:path w="3286657" h="2111403" extrusionOk="0">
                <a:moveTo>
                  <a:pt x="0" y="0"/>
                </a:moveTo>
                <a:lnTo>
                  <a:pt x="3286657" y="0"/>
                </a:lnTo>
                <a:lnTo>
                  <a:pt x="3286657" y="2111403"/>
                </a:lnTo>
                <a:lnTo>
                  <a:pt x="0" y="21114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Google Shape;122;p15"/>
          <p:cNvSpPr/>
          <p:nvPr/>
        </p:nvSpPr>
        <p:spPr>
          <a:xfrm>
            <a:off x="10261150" y="657204"/>
            <a:ext cx="7087021" cy="8045795"/>
          </a:xfrm>
          <a:custGeom>
            <a:avLst/>
            <a:gdLst/>
            <a:ahLst/>
            <a:cxnLst/>
            <a:rect l="l" t="t" r="r" b="b"/>
            <a:pathLst>
              <a:path w="2585364" h="2935128" extrusionOk="0">
                <a:moveTo>
                  <a:pt x="0" y="0"/>
                </a:moveTo>
                <a:lnTo>
                  <a:pt x="2585364" y="0"/>
                </a:lnTo>
                <a:lnTo>
                  <a:pt x="2585364" y="2935128"/>
                </a:lnTo>
                <a:lnTo>
                  <a:pt x="0" y="29351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4">
            <a:alphaModFix/>
          </a:blip>
          <a:srcRect t="11443" b="11443"/>
          <a:stretch/>
        </p:blipFill>
        <p:spPr>
          <a:xfrm>
            <a:off x="10626673" y="1011978"/>
            <a:ext cx="6355975" cy="735195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876134" y="616651"/>
            <a:ext cx="7049083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00" b="1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Data Overview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15301511" y="-207276"/>
            <a:ext cx="4876557" cy="1728961"/>
          </a:xfrm>
          <a:custGeom>
            <a:avLst/>
            <a:gdLst/>
            <a:ahLst/>
            <a:cxnLst/>
            <a:rect l="l" t="t" r="r" b="b"/>
            <a:pathLst>
              <a:path w="4876557" h="1728961" extrusionOk="0">
                <a:moveTo>
                  <a:pt x="0" y="0"/>
                </a:moveTo>
                <a:lnTo>
                  <a:pt x="4876558" y="0"/>
                </a:lnTo>
                <a:lnTo>
                  <a:pt x="4876558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Google Shape;126;p15"/>
          <p:cNvSpPr/>
          <p:nvPr/>
        </p:nvSpPr>
        <p:spPr>
          <a:xfrm rot="10800000">
            <a:off x="8469322" y="9150674"/>
            <a:ext cx="4876557" cy="1728961"/>
          </a:xfrm>
          <a:custGeom>
            <a:avLst/>
            <a:gdLst/>
            <a:ahLst/>
            <a:cxnLst/>
            <a:rect l="l" t="t" r="r" b="b"/>
            <a:pathLst>
              <a:path w="4876557" h="1728961" extrusionOk="0">
                <a:moveTo>
                  <a:pt x="0" y="0"/>
                </a:moveTo>
                <a:lnTo>
                  <a:pt x="4876557" y="0"/>
                </a:lnTo>
                <a:lnTo>
                  <a:pt x="4876557" y="1728961"/>
                </a:lnTo>
                <a:lnTo>
                  <a:pt x="0" y="17289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Google Shape;127;p15"/>
          <p:cNvSpPr/>
          <p:nvPr/>
        </p:nvSpPr>
        <p:spPr>
          <a:xfrm>
            <a:off x="295787" y="29178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5" y="0"/>
                </a:lnTo>
                <a:lnTo>
                  <a:pt x="441615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Google Shape;128;p15"/>
          <p:cNvSpPr txBox="1"/>
          <p:nvPr/>
        </p:nvSpPr>
        <p:spPr>
          <a:xfrm>
            <a:off x="1255788" y="3192068"/>
            <a:ext cx="6497240" cy="1056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29375" marR="0" lvl="1" indent="-264687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2451"/>
              <a:buFont typeface="Arial"/>
              <a:buChar char="•"/>
            </a:pPr>
            <a:r>
              <a:rPr lang="en-US" sz="2451" b="0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There are 4 different consolation service that Astrosage offers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1255788" y="4240390"/>
            <a:ext cx="6497240" cy="40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29375" marR="0" lvl="1" indent="-264687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2451"/>
              <a:buFont typeface="Arial"/>
              <a:buChar char="•"/>
            </a:pPr>
            <a:r>
              <a:rPr lang="en-US" sz="2451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In total 149 Consultants are avialable.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255788" y="4920164"/>
            <a:ext cx="6497240" cy="16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29375" marR="0" lvl="1" indent="-264687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2451"/>
              <a:buFont typeface="Arial"/>
              <a:buChar char="•"/>
            </a:pPr>
            <a:r>
              <a:rPr lang="en-US" sz="2451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A good dataset is important to understand the operational cost , customer satisfaction and trend in the sales of call center.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55788" y="6836539"/>
            <a:ext cx="6497240" cy="126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29375" marR="0" lvl="1" indent="-264687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2451"/>
              <a:buFont typeface="Arial"/>
              <a:buChar char="•"/>
            </a:pPr>
            <a:r>
              <a:rPr lang="en-US" sz="2451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This dataset enable us to predict and suggest future investments to grow the sales Turnover.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60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05495" y="657204"/>
            <a:ext cx="6657733" cy="1906519"/>
            <a:chOff x="0" y="0"/>
            <a:chExt cx="2428759" cy="69550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28759" cy="695503"/>
            </a:xfrm>
            <a:custGeom>
              <a:avLst/>
              <a:gdLst/>
              <a:ahLst/>
              <a:cxnLst/>
              <a:rect l="l" t="t" r="r" b="b"/>
              <a:pathLst>
                <a:path w="2428759" h="695503">
                  <a:moveTo>
                    <a:pt x="0" y="0"/>
                  </a:moveTo>
                  <a:lnTo>
                    <a:pt x="2428759" y="0"/>
                  </a:lnTo>
                  <a:lnTo>
                    <a:pt x="2428759" y="695503"/>
                  </a:lnTo>
                  <a:lnTo>
                    <a:pt x="0" y="69550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0116533" y="1775482"/>
            <a:ext cx="7724783" cy="5768744"/>
            <a:chOff x="0" y="0"/>
            <a:chExt cx="2818022" cy="21044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8022" cy="2104453"/>
            </a:xfrm>
            <a:custGeom>
              <a:avLst/>
              <a:gdLst/>
              <a:ahLst/>
              <a:cxnLst/>
              <a:rect l="l" t="t" r="r" b="b"/>
              <a:pathLst>
                <a:path w="2818022" h="2104453">
                  <a:moveTo>
                    <a:pt x="0" y="0"/>
                  </a:moveTo>
                  <a:lnTo>
                    <a:pt x="2818022" y="0"/>
                  </a:lnTo>
                  <a:lnTo>
                    <a:pt x="2818022" y="2104453"/>
                  </a:lnTo>
                  <a:lnTo>
                    <a:pt x="0" y="210445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908900" y="3235000"/>
            <a:ext cx="121908" cy="121908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055579" y="7995212"/>
            <a:ext cx="121908" cy="121908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926069" y="1131033"/>
            <a:ext cx="6981839" cy="808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5416" b="1" dirty="0">
                <a:solidFill>
                  <a:schemeClr val="accent6">
                    <a:lumMod val="75000"/>
                  </a:schemeClr>
                </a:solidFill>
                <a:latin typeface="Telegraf Bold"/>
                <a:ea typeface="Telegraf Bold"/>
                <a:cs typeface="Telegraf Bold"/>
                <a:sym typeface="Telegraf Bold"/>
              </a:rPr>
              <a:t>Methodology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375866" y="3356908"/>
            <a:ext cx="4465450" cy="4114800"/>
            <a:chOff x="0" y="0"/>
            <a:chExt cx="5953933" cy="548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69637" cy="5486400"/>
            </a:xfrm>
            <a:custGeom>
              <a:avLst/>
              <a:gdLst/>
              <a:ahLst/>
              <a:cxnLst/>
              <a:rect l="l" t="t" r="r" b="b"/>
              <a:pathLst>
                <a:path w="5769637" h="5486400">
                  <a:moveTo>
                    <a:pt x="0" y="0"/>
                  </a:moveTo>
                  <a:lnTo>
                    <a:pt x="5769637" y="0"/>
                  </a:lnTo>
                  <a:lnTo>
                    <a:pt x="5769637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84296" y="0"/>
              <a:ext cx="5769637" cy="5486400"/>
            </a:xfrm>
            <a:custGeom>
              <a:avLst/>
              <a:gdLst/>
              <a:ahLst/>
              <a:cxnLst/>
              <a:rect l="l" t="t" r="r" b="b"/>
              <a:pathLst>
                <a:path w="5769637" h="5486400">
                  <a:moveTo>
                    <a:pt x="0" y="0"/>
                  </a:moveTo>
                  <a:lnTo>
                    <a:pt x="5769637" y="0"/>
                  </a:lnTo>
                  <a:lnTo>
                    <a:pt x="5769637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10502988" y="2177746"/>
            <a:ext cx="2872879" cy="4114800"/>
          </a:xfrm>
          <a:custGeom>
            <a:avLst/>
            <a:gdLst/>
            <a:ahLst/>
            <a:cxnLst/>
            <a:rect l="l" t="t" r="r" b="b"/>
            <a:pathLst>
              <a:path w="2872879" h="4114800">
                <a:moveTo>
                  <a:pt x="0" y="0"/>
                </a:moveTo>
                <a:lnTo>
                  <a:pt x="2872878" y="0"/>
                </a:lnTo>
                <a:lnTo>
                  <a:pt x="28728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439366" y="2788145"/>
            <a:ext cx="9009410" cy="6367822"/>
            <a:chOff x="0" y="0"/>
            <a:chExt cx="3286657" cy="23229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286657" cy="2322999"/>
            </a:xfrm>
            <a:custGeom>
              <a:avLst/>
              <a:gdLst/>
              <a:ahLst/>
              <a:cxnLst/>
              <a:rect l="l" t="t" r="r" b="b"/>
              <a:pathLst>
                <a:path w="3286657" h="2322999">
                  <a:moveTo>
                    <a:pt x="0" y="0"/>
                  </a:moveTo>
                  <a:lnTo>
                    <a:pt x="3286657" y="0"/>
                  </a:lnTo>
                  <a:lnTo>
                    <a:pt x="3286657" y="2322999"/>
                  </a:lnTo>
                  <a:lnTo>
                    <a:pt x="0" y="232299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873784" y="3131095"/>
            <a:ext cx="8270216" cy="84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375" lvl="1" indent="-264687" algn="l">
              <a:lnSpc>
                <a:spcPts val="3432"/>
              </a:lnSpc>
              <a:buFont typeface="Arial"/>
              <a:buChar char="•"/>
            </a:pPr>
            <a:r>
              <a:rPr lang="en-US" sz="2451" dirty="0">
                <a:solidFill>
                  <a:schemeClr val="accent6">
                    <a:lumMod val="75000"/>
                  </a:schemeClr>
                </a:solidFill>
                <a:latin typeface="Canva Sans"/>
                <a:ea typeface="Canva Sans"/>
                <a:cs typeface="Canva Sans"/>
                <a:sym typeface="Canva Sans"/>
              </a:rPr>
              <a:t>Data Cleaning -: Used spreadsheets functions like trim and Removing duplicates for data cleaning</a:t>
            </a:r>
            <a:r>
              <a:rPr lang="en-US" sz="2451" dirty="0">
                <a:solidFill>
                  <a:schemeClr val="accent6">
                    <a:lumMod val="60000"/>
                    <a:lumOff val="40000"/>
                  </a:schemeClr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6069" y="4310429"/>
            <a:ext cx="8270216" cy="844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375" lvl="1" indent="-264687" algn="l">
              <a:lnSpc>
                <a:spcPts val="3432"/>
              </a:lnSpc>
              <a:buFont typeface="Arial"/>
              <a:buChar char="•"/>
            </a:pPr>
            <a:r>
              <a:rPr lang="en-US" sz="2451" dirty="0">
                <a:solidFill>
                  <a:schemeClr val="accent6">
                    <a:lumMod val="75000"/>
                  </a:schemeClr>
                </a:solidFill>
                <a:latin typeface="Canva Sans"/>
                <a:ea typeface="Canva Sans"/>
                <a:cs typeface="Canva Sans"/>
                <a:sym typeface="Canva Sans"/>
              </a:rPr>
              <a:t>Data Enrichment -: Added new variables using Date functions for better analysis 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6069" y="5367815"/>
            <a:ext cx="8056058" cy="770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1397" lvl="1" indent="-240698" algn="l">
              <a:lnSpc>
                <a:spcPts val="3121"/>
              </a:lnSpc>
              <a:buFont typeface="Arial"/>
              <a:buChar char="•"/>
            </a:pPr>
            <a:r>
              <a:rPr lang="en-US" sz="2229" dirty="0">
                <a:solidFill>
                  <a:schemeClr val="accent6">
                    <a:lumMod val="75000"/>
                  </a:schemeClr>
                </a:solidFill>
                <a:latin typeface="Canva Sans"/>
                <a:ea typeface="Canva Sans"/>
                <a:cs typeface="Canva Sans"/>
                <a:sym typeface="Canva Sans"/>
              </a:rPr>
              <a:t>Customer Segmentation -: Used Sorting and Filtering to classify customers based on consultation type.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6069" y="6476058"/>
            <a:ext cx="8270216" cy="1136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3117" lvl="1" indent="-231558" algn="l">
              <a:lnSpc>
                <a:spcPts val="3003"/>
              </a:lnSpc>
              <a:buFont typeface="Arial"/>
              <a:buChar char="•"/>
            </a:pPr>
            <a:r>
              <a:rPr lang="en-US" sz="2145" dirty="0">
                <a:solidFill>
                  <a:schemeClr val="accent6">
                    <a:lumMod val="75000"/>
                  </a:schemeClr>
                </a:solidFill>
                <a:latin typeface="Canva Sans"/>
                <a:ea typeface="Canva Sans"/>
                <a:cs typeface="Canva Sans"/>
                <a:sym typeface="Canva Sans"/>
              </a:rPr>
              <a:t>Used Pivot tables to analyze the performance of consultants over different category type and ratings received on basis of consultations from users.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3784" y="7945574"/>
            <a:ext cx="8056058" cy="770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1397" lvl="1" indent="-240698" algn="l">
              <a:lnSpc>
                <a:spcPts val="3121"/>
              </a:lnSpc>
              <a:buFont typeface="Arial"/>
              <a:buChar char="•"/>
            </a:pPr>
            <a:r>
              <a:rPr lang="en-US" sz="2229" dirty="0">
                <a:solidFill>
                  <a:schemeClr val="accent6">
                    <a:lumMod val="75000"/>
                  </a:schemeClr>
                </a:solidFill>
                <a:latin typeface="Canva Sans"/>
                <a:ea typeface="Canva Sans"/>
                <a:cs typeface="Canva Sans"/>
                <a:sym typeface="Canva Sans"/>
              </a:rPr>
              <a:t>Visualization -: Created interactive dashboard using different charts for detailed view of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/>
          <p:nvPr/>
        </p:nvSpPr>
        <p:spPr>
          <a:xfrm>
            <a:off x="905495" y="656871"/>
            <a:ext cx="8045761" cy="1233493"/>
          </a:xfrm>
          <a:custGeom>
            <a:avLst/>
            <a:gdLst/>
            <a:ahLst/>
            <a:cxnLst/>
            <a:rect l="l" t="t" r="r" b="b"/>
            <a:pathLst>
              <a:path w="2935115" h="449982" extrusionOk="0">
                <a:moveTo>
                  <a:pt x="0" y="0"/>
                </a:moveTo>
                <a:lnTo>
                  <a:pt x="2935115" y="0"/>
                </a:lnTo>
                <a:lnTo>
                  <a:pt x="2935115" y="449982"/>
                </a:lnTo>
                <a:lnTo>
                  <a:pt x="0" y="4499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Google Shape;159;p17"/>
          <p:cNvSpPr/>
          <p:nvPr/>
        </p:nvSpPr>
        <p:spPr>
          <a:xfrm flipH="1">
            <a:off x="-883630" y="9558089"/>
            <a:ext cx="4111803" cy="1457821"/>
          </a:xfrm>
          <a:custGeom>
            <a:avLst/>
            <a:gdLst/>
            <a:ahLst/>
            <a:cxnLst/>
            <a:rect l="l" t="t" r="r" b="b"/>
            <a:pathLst>
              <a:path w="4111803" h="1457821" extrusionOk="0">
                <a:moveTo>
                  <a:pt x="4111804" y="0"/>
                </a:moveTo>
                <a:lnTo>
                  <a:pt x="0" y="0"/>
                </a:lnTo>
                <a:lnTo>
                  <a:pt x="0" y="1457822"/>
                </a:lnTo>
                <a:lnTo>
                  <a:pt x="4111804" y="1457822"/>
                </a:lnTo>
                <a:lnTo>
                  <a:pt x="411180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Google Shape;160;p17"/>
          <p:cNvSpPr/>
          <p:nvPr/>
        </p:nvSpPr>
        <p:spPr>
          <a:xfrm>
            <a:off x="17441250" y="656871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61" name="Google Shape;161;p17"/>
          <p:cNvGrpSpPr/>
          <p:nvPr/>
        </p:nvGrpSpPr>
        <p:grpSpPr>
          <a:xfrm>
            <a:off x="432853" y="1823949"/>
            <a:ext cx="9763418" cy="7173930"/>
            <a:chOff x="0" y="-47625"/>
            <a:chExt cx="2294294" cy="1685793"/>
          </a:xfrm>
        </p:grpSpPr>
        <p:sp>
          <p:nvSpPr>
            <p:cNvPr id="162" name="Google Shape;162;p17"/>
            <p:cNvSpPr/>
            <p:nvPr/>
          </p:nvSpPr>
          <p:spPr>
            <a:xfrm>
              <a:off x="0" y="0"/>
              <a:ext cx="2294294" cy="1638168"/>
            </a:xfrm>
            <a:custGeom>
              <a:avLst/>
              <a:gdLst/>
              <a:ahLst/>
              <a:cxnLst/>
              <a:rect l="l" t="t" r="r" b="b"/>
              <a:pathLst>
                <a:path w="2294294" h="1638168" extrusionOk="0">
                  <a:moveTo>
                    <a:pt x="40441" y="0"/>
                  </a:moveTo>
                  <a:lnTo>
                    <a:pt x="2253853" y="0"/>
                  </a:lnTo>
                  <a:cubicBezTo>
                    <a:pt x="2276188" y="0"/>
                    <a:pt x="2294294" y="18106"/>
                    <a:pt x="2294294" y="40441"/>
                  </a:cubicBezTo>
                  <a:lnTo>
                    <a:pt x="2294294" y="1597728"/>
                  </a:lnTo>
                  <a:cubicBezTo>
                    <a:pt x="2294294" y="1608453"/>
                    <a:pt x="2290033" y="1618740"/>
                    <a:pt x="2282449" y="1626324"/>
                  </a:cubicBezTo>
                  <a:cubicBezTo>
                    <a:pt x="2274865" y="1633908"/>
                    <a:pt x="2264579" y="1638168"/>
                    <a:pt x="2253853" y="1638168"/>
                  </a:cubicBezTo>
                  <a:lnTo>
                    <a:pt x="40441" y="1638168"/>
                  </a:lnTo>
                  <a:cubicBezTo>
                    <a:pt x="29715" y="1638168"/>
                    <a:pt x="19429" y="1633908"/>
                    <a:pt x="11845" y="1626324"/>
                  </a:cubicBezTo>
                  <a:cubicBezTo>
                    <a:pt x="4261" y="1618740"/>
                    <a:pt x="0" y="1608453"/>
                    <a:pt x="0" y="1597728"/>
                  </a:cubicBezTo>
                  <a:lnTo>
                    <a:pt x="0" y="40441"/>
                  </a:lnTo>
                  <a:cubicBezTo>
                    <a:pt x="0" y="29715"/>
                    <a:pt x="4261" y="19429"/>
                    <a:pt x="11845" y="11845"/>
                  </a:cubicBezTo>
                  <a:cubicBezTo>
                    <a:pt x="19429" y="4261"/>
                    <a:pt x="29715" y="0"/>
                    <a:pt x="40441" y="0"/>
                  </a:cubicBezTo>
                  <a:close/>
                </a:path>
              </a:pathLst>
            </a:custGeom>
            <a:solidFill>
              <a:srgbClr val="DE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0" y="-47625"/>
              <a:ext cx="2294294" cy="1685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17"/>
          <p:cNvSpPr/>
          <p:nvPr/>
        </p:nvSpPr>
        <p:spPr>
          <a:xfrm>
            <a:off x="587084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6" name="Google Shape;166;p17"/>
          <p:cNvSpPr txBox="1"/>
          <p:nvPr/>
        </p:nvSpPr>
        <p:spPr>
          <a:xfrm>
            <a:off x="1028700" y="809000"/>
            <a:ext cx="4398947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Key Metrics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0196271" y="2830336"/>
            <a:ext cx="7686595" cy="126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85467" marR="0" lvl="1" indent="-392732" algn="l" rtl="0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638"/>
              <a:buFont typeface="Arial"/>
              <a:buChar char="•"/>
            </a:pPr>
            <a:r>
              <a:rPr lang="en-US" sz="3638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above graph shows the hour wise  call distribution.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196271" y="4611739"/>
            <a:ext cx="7686595" cy="117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1506" marR="0" lvl="1" indent="-365753" algn="l" rtl="0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388"/>
              <a:buFont typeface="Arial"/>
              <a:buChar char="•"/>
            </a:pPr>
            <a:r>
              <a:rPr lang="en-US" sz="3388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660 calls are the most in a single an  hour 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0196271" y="6123438"/>
            <a:ext cx="7851838" cy="2713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80043" marR="0" lvl="1" indent="-340020" algn="l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149"/>
              <a:buFont typeface="Arial"/>
              <a:buChar char="•"/>
            </a:pPr>
            <a:r>
              <a:rPr lang="en-US" sz="3149" b="0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mid-morning hours generally receives more number of calls round the whole day</a:t>
            </a:r>
            <a:endParaRPr dirty="0"/>
          </a:p>
          <a:p>
            <a:pPr marL="0" marR="0" lvl="0" indent="0" algn="l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49" b="0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       as per the dataset.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25C2E2-084C-8C2B-20FB-0F292EA38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020" y="2264560"/>
            <a:ext cx="9231085" cy="64004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8"/>
          <p:cNvGrpSpPr/>
          <p:nvPr/>
        </p:nvGrpSpPr>
        <p:grpSpPr>
          <a:xfrm>
            <a:off x="1028700" y="1705707"/>
            <a:ext cx="9873078" cy="7022866"/>
            <a:chOff x="0" y="-47625"/>
            <a:chExt cx="2294294" cy="1631965"/>
          </a:xfrm>
        </p:grpSpPr>
        <p:sp>
          <p:nvSpPr>
            <p:cNvPr id="175" name="Google Shape;175;p18"/>
            <p:cNvSpPr/>
            <p:nvPr/>
          </p:nvSpPr>
          <p:spPr>
            <a:xfrm>
              <a:off x="0" y="0"/>
              <a:ext cx="2294294" cy="1584340"/>
            </a:xfrm>
            <a:custGeom>
              <a:avLst/>
              <a:gdLst/>
              <a:ahLst/>
              <a:cxnLst/>
              <a:rect l="l" t="t" r="r" b="b"/>
              <a:pathLst>
                <a:path w="2294294" h="1584340" extrusionOk="0">
                  <a:moveTo>
                    <a:pt x="39991" y="0"/>
                  </a:moveTo>
                  <a:lnTo>
                    <a:pt x="2254303" y="0"/>
                  </a:lnTo>
                  <a:cubicBezTo>
                    <a:pt x="2276389" y="0"/>
                    <a:pt x="2294294" y="17905"/>
                    <a:pt x="2294294" y="39991"/>
                  </a:cubicBezTo>
                  <a:lnTo>
                    <a:pt x="2294294" y="1544349"/>
                  </a:lnTo>
                  <a:cubicBezTo>
                    <a:pt x="2294294" y="1566435"/>
                    <a:pt x="2276389" y="1584340"/>
                    <a:pt x="2254303" y="1584340"/>
                  </a:cubicBezTo>
                  <a:lnTo>
                    <a:pt x="39991" y="1584340"/>
                  </a:lnTo>
                  <a:cubicBezTo>
                    <a:pt x="17905" y="1584340"/>
                    <a:pt x="0" y="1566435"/>
                    <a:pt x="0" y="1544349"/>
                  </a:cubicBezTo>
                  <a:lnTo>
                    <a:pt x="0" y="39991"/>
                  </a:lnTo>
                  <a:cubicBezTo>
                    <a:pt x="0" y="17905"/>
                    <a:pt x="17905" y="0"/>
                    <a:pt x="39991" y="0"/>
                  </a:cubicBezTo>
                  <a:close/>
                </a:path>
              </a:pathLst>
            </a:custGeom>
            <a:solidFill>
              <a:srgbClr val="DE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8"/>
            <p:cNvSpPr txBox="1"/>
            <p:nvPr/>
          </p:nvSpPr>
          <p:spPr>
            <a:xfrm>
              <a:off x="0" y="-47625"/>
              <a:ext cx="2294294" cy="1631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8"/>
          <p:cNvSpPr txBox="1"/>
          <p:nvPr/>
        </p:nvSpPr>
        <p:spPr>
          <a:xfrm>
            <a:off x="1528295" y="547687"/>
            <a:ext cx="4398947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99" b="1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Key Metrics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10945663" y="2557830"/>
            <a:ext cx="7686595" cy="126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85467" marR="0" lvl="1" indent="-392732" algn="l" rtl="0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638"/>
              <a:buFont typeface="Arial"/>
              <a:buChar char="•"/>
            </a:pPr>
            <a:r>
              <a:rPr lang="en-US" sz="3638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above graph shows the Day-wise call distribution.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0901778" y="4265472"/>
            <a:ext cx="6846368" cy="17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31506" marR="0" lvl="1" indent="-365753" algn="l" rtl="0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388"/>
              <a:buFont typeface="Arial"/>
              <a:buChar char="•"/>
            </a:pPr>
            <a:r>
              <a:rPr lang="en-US" sz="3388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430 calls is the maximum amount of call received on a single day.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0945663" y="6395944"/>
            <a:ext cx="6802484" cy="2035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80043" marR="0" lvl="1" indent="-340020" algn="l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149"/>
              <a:buFont typeface="Arial"/>
              <a:buChar char="•"/>
            </a:pPr>
            <a:r>
              <a:rPr lang="en-US" sz="3149" b="0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On an average the call center receives around 246 calls on a daily basis.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F22DE5-528E-D162-416B-9804CF23D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20685"/>
            <a:ext cx="9252857" cy="61556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/>
          <p:nvPr/>
        </p:nvSpPr>
        <p:spPr>
          <a:xfrm>
            <a:off x="905495" y="656871"/>
            <a:ext cx="8045761" cy="1233493"/>
          </a:xfrm>
          <a:custGeom>
            <a:avLst/>
            <a:gdLst/>
            <a:ahLst/>
            <a:cxnLst/>
            <a:rect l="l" t="t" r="r" b="b"/>
            <a:pathLst>
              <a:path w="2935115" h="449982" extrusionOk="0">
                <a:moveTo>
                  <a:pt x="0" y="0"/>
                </a:moveTo>
                <a:lnTo>
                  <a:pt x="2935115" y="0"/>
                </a:lnTo>
                <a:lnTo>
                  <a:pt x="2935115" y="449982"/>
                </a:lnTo>
                <a:lnTo>
                  <a:pt x="0" y="4499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87" name="Google Shape;187;p19"/>
          <p:cNvGrpSpPr/>
          <p:nvPr/>
        </p:nvGrpSpPr>
        <p:grpSpPr>
          <a:xfrm>
            <a:off x="769242" y="1970176"/>
            <a:ext cx="7796486" cy="7071021"/>
            <a:chOff x="0" y="-47625"/>
            <a:chExt cx="2053395" cy="1862327"/>
          </a:xfrm>
        </p:grpSpPr>
        <p:sp>
          <p:nvSpPr>
            <p:cNvPr id="188" name="Google Shape;188;p19"/>
            <p:cNvSpPr/>
            <p:nvPr/>
          </p:nvSpPr>
          <p:spPr>
            <a:xfrm>
              <a:off x="0" y="0"/>
              <a:ext cx="2053395" cy="1814702"/>
            </a:xfrm>
            <a:custGeom>
              <a:avLst/>
              <a:gdLst/>
              <a:ahLst/>
              <a:cxnLst/>
              <a:rect l="l" t="t" r="r" b="b"/>
              <a:pathLst>
                <a:path w="2053395" h="1814702" extrusionOk="0">
                  <a:moveTo>
                    <a:pt x="50643" y="0"/>
                  </a:moveTo>
                  <a:lnTo>
                    <a:pt x="2002752" y="0"/>
                  </a:lnTo>
                  <a:cubicBezTo>
                    <a:pt x="2030722" y="0"/>
                    <a:pt x="2053395" y="22674"/>
                    <a:pt x="2053395" y="50643"/>
                  </a:cubicBezTo>
                  <a:lnTo>
                    <a:pt x="2053395" y="1764059"/>
                  </a:lnTo>
                  <a:cubicBezTo>
                    <a:pt x="2053395" y="1792028"/>
                    <a:pt x="2030722" y="1814702"/>
                    <a:pt x="2002752" y="1814702"/>
                  </a:cubicBezTo>
                  <a:lnTo>
                    <a:pt x="50643" y="1814702"/>
                  </a:lnTo>
                  <a:cubicBezTo>
                    <a:pt x="22674" y="1814702"/>
                    <a:pt x="0" y="1792028"/>
                    <a:pt x="0" y="1764059"/>
                  </a:cubicBezTo>
                  <a:lnTo>
                    <a:pt x="0" y="50643"/>
                  </a:lnTo>
                  <a:cubicBezTo>
                    <a:pt x="0" y="22674"/>
                    <a:pt x="22674" y="0"/>
                    <a:pt x="50643" y="0"/>
                  </a:cubicBezTo>
                  <a:close/>
                </a:path>
              </a:pathLst>
            </a:custGeom>
            <a:solidFill>
              <a:srgbClr val="DE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0" y="-47625"/>
              <a:ext cx="2053395" cy="1862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19"/>
          <p:cNvSpPr/>
          <p:nvPr/>
        </p:nvSpPr>
        <p:spPr>
          <a:xfrm>
            <a:off x="17441250" y="656871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1" name="Google Shape;191;p19"/>
          <p:cNvSpPr/>
          <p:nvPr/>
        </p:nvSpPr>
        <p:spPr>
          <a:xfrm>
            <a:off x="1308525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Google Shape;192;p19"/>
          <p:cNvSpPr/>
          <p:nvPr/>
        </p:nvSpPr>
        <p:spPr>
          <a:xfrm>
            <a:off x="1084332" y="2440952"/>
            <a:ext cx="7189014" cy="6306313"/>
          </a:xfrm>
          <a:custGeom>
            <a:avLst/>
            <a:gdLst/>
            <a:ahLst/>
            <a:cxnLst/>
            <a:rect l="l" t="t" r="r" b="b"/>
            <a:pathLst>
              <a:path w="940712" h="825207" extrusionOk="0">
                <a:moveTo>
                  <a:pt x="24769" y="0"/>
                </a:moveTo>
                <a:lnTo>
                  <a:pt x="915943" y="0"/>
                </a:lnTo>
                <a:cubicBezTo>
                  <a:pt x="922513" y="0"/>
                  <a:pt x="928813" y="2610"/>
                  <a:pt x="933458" y="7255"/>
                </a:cubicBezTo>
                <a:cubicBezTo>
                  <a:pt x="938103" y="11900"/>
                  <a:pt x="940712" y="18200"/>
                  <a:pt x="940712" y="24769"/>
                </a:cubicBezTo>
                <a:lnTo>
                  <a:pt x="940712" y="800438"/>
                </a:lnTo>
                <a:cubicBezTo>
                  <a:pt x="940712" y="807007"/>
                  <a:pt x="938103" y="813308"/>
                  <a:pt x="933458" y="817953"/>
                </a:cubicBezTo>
                <a:cubicBezTo>
                  <a:pt x="928813" y="822598"/>
                  <a:pt x="922513" y="825207"/>
                  <a:pt x="915943" y="825207"/>
                </a:cubicBezTo>
                <a:lnTo>
                  <a:pt x="24769" y="825207"/>
                </a:lnTo>
                <a:cubicBezTo>
                  <a:pt x="18200" y="825207"/>
                  <a:pt x="11900" y="822598"/>
                  <a:pt x="7255" y="817953"/>
                </a:cubicBezTo>
                <a:cubicBezTo>
                  <a:pt x="2610" y="813308"/>
                  <a:pt x="0" y="807007"/>
                  <a:pt x="0" y="800438"/>
                </a:cubicBezTo>
                <a:lnTo>
                  <a:pt x="0" y="24769"/>
                </a:lnTo>
                <a:cubicBezTo>
                  <a:pt x="0" y="18200"/>
                  <a:pt x="2610" y="11900"/>
                  <a:pt x="7255" y="7255"/>
                </a:cubicBezTo>
                <a:cubicBezTo>
                  <a:pt x="11900" y="2610"/>
                  <a:pt x="18200" y="0"/>
                  <a:pt x="2476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9645" r="-9645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5930692" y="85585"/>
            <a:ext cx="6041128" cy="121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53" b="1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Key Metrics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9128754" y="5760463"/>
            <a:ext cx="8533304" cy="249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Product-wise revenue Pie Chart , presents an impactful insight that the calls consulation are most profitable.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9128754" y="2383802"/>
            <a:ext cx="8533304" cy="3121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Product-wise revenue Pie Chart , presents a detailed insight about the revenue generated by different consultation-types as per the percentage of total revenue.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/>
          <p:nvPr/>
        </p:nvSpPr>
        <p:spPr>
          <a:xfrm>
            <a:off x="905495" y="656871"/>
            <a:ext cx="8045761" cy="1233493"/>
          </a:xfrm>
          <a:custGeom>
            <a:avLst/>
            <a:gdLst/>
            <a:ahLst/>
            <a:cxnLst/>
            <a:rect l="l" t="t" r="r" b="b"/>
            <a:pathLst>
              <a:path w="2935115" h="449982" extrusionOk="0">
                <a:moveTo>
                  <a:pt x="0" y="0"/>
                </a:moveTo>
                <a:lnTo>
                  <a:pt x="2935115" y="0"/>
                </a:lnTo>
                <a:lnTo>
                  <a:pt x="2935115" y="449982"/>
                </a:lnTo>
                <a:lnTo>
                  <a:pt x="0" y="4499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01" name="Google Shape;201;p20"/>
          <p:cNvGrpSpPr/>
          <p:nvPr/>
        </p:nvGrpSpPr>
        <p:grpSpPr>
          <a:xfrm>
            <a:off x="769242" y="1970176"/>
            <a:ext cx="7796486" cy="7071021"/>
            <a:chOff x="0" y="-47625"/>
            <a:chExt cx="2053395" cy="1862327"/>
          </a:xfrm>
        </p:grpSpPr>
        <p:sp>
          <p:nvSpPr>
            <p:cNvPr id="202" name="Google Shape;202;p20"/>
            <p:cNvSpPr/>
            <p:nvPr/>
          </p:nvSpPr>
          <p:spPr>
            <a:xfrm>
              <a:off x="0" y="0"/>
              <a:ext cx="2053395" cy="1814702"/>
            </a:xfrm>
            <a:custGeom>
              <a:avLst/>
              <a:gdLst/>
              <a:ahLst/>
              <a:cxnLst/>
              <a:rect l="l" t="t" r="r" b="b"/>
              <a:pathLst>
                <a:path w="2053395" h="1814702" extrusionOk="0">
                  <a:moveTo>
                    <a:pt x="50643" y="0"/>
                  </a:moveTo>
                  <a:lnTo>
                    <a:pt x="2002752" y="0"/>
                  </a:lnTo>
                  <a:cubicBezTo>
                    <a:pt x="2030722" y="0"/>
                    <a:pt x="2053395" y="22674"/>
                    <a:pt x="2053395" y="50643"/>
                  </a:cubicBezTo>
                  <a:lnTo>
                    <a:pt x="2053395" y="1764059"/>
                  </a:lnTo>
                  <a:cubicBezTo>
                    <a:pt x="2053395" y="1792028"/>
                    <a:pt x="2030722" y="1814702"/>
                    <a:pt x="2002752" y="1814702"/>
                  </a:cubicBezTo>
                  <a:lnTo>
                    <a:pt x="50643" y="1814702"/>
                  </a:lnTo>
                  <a:cubicBezTo>
                    <a:pt x="22674" y="1814702"/>
                    <a:pt x="0" y="1792028"/>
                    <a:pt x="0" y="1764059"/>
                  </a:cubicBezTo>
                  <a:lnTo>
                    <a:pt x="0" y="50643"/>
                  </a:lnTo>
                  <a:cubicBezTo>
                    <a:pt x="0" y="22674"/>
                    <a:pt x="22674" y="0"/>
                    <a:pt x="50643" y="0"/>
                  </a:cubicBezTo>
                  <a:close/>
                </a:path>
              </a:pathLst>
            </a:custGeom>
            <a:solidFill>
              <a:srgbClr val="DE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0"/>
            <p:cNvSpPr txBox="1"/>
            <p:nvPr/>
          </p:nvSpPr>
          <p:spPr>
            <a:xfrm>
              <a:off x="0" y="-47625"/>
              <a:ext cx="2053395" cy="1862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20"/>
          <p:cNvSpPr/>
          <p:nvPr/>
        </p:nvSpPr>
        <p:spPr>
          <a:xfrm>
            <a:off x="17441250" y="656871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Google Shape;205;p20"/>
          <p:cNvSpPr/>
          <p:nvPr/>
        </p:nvSpPr>
        <p:spPr>
          <a:xfrm>
            <a:off x="1308525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Google Shape;206;p20"/>
          <p:cNvSpPr/>
          <p:nvPr/>
        </p:nvSpPr>
        <p:spPr>
          <a:xfrm>
            <a:off x="1072978" y="2442943"/>
            <a:ext cx="7189014" cy="6306313"/>
          </a:xfrm>
          <a:custGeom>
            <a:avLst/>
            <a:gdLst/>
            <a:ahLst/>
            <a:cxnLst/>
            <a:rect l="l" t="t" r="r" b="b"/>
            <a:pathLst>
              <a:path w="940712" h="825207" extrusionOk="0">
                <a:moveTo>
                  <a:pt x="24769" y="0"/>
                </a:moveTo>
                <a:lnTo>
                  <a:pt x="915943" y="0"/>
                </a:lnTo>
                <a:cubicBezTo>
                  <a:pt x="922513" y="0"/>
                  <a:pt x="928813" y="2610"/>
                  <a:pt x="933458" y="7255"/>
                </a:cubicBezTo>
                <a:cubicBezTo>
                  <a:pt x="938103" y="11900"/>
                  <a:pt x="940712" y="18200"/>
                  <a:pt x="940712" y="24769"/>
                </a:cubicBezTo>
                <a:lnTo>
                  <a:pt x="940712" y="800438"/>
                </a:lnTo>
                <a:cubicBezTo>
                  <a:pt x="940712" y="807007"/>
                  <a:pt x="938103" y="813308"/>
                  <a:pt x="933458" y="817953"/>
                </a:cubicBezTo>
                <a:cubicBezTo>
                  <a:pt x="928813" y="822598"/>
                  <a:pt x="922513" y="825207"/>
                  <a:pt x="915943" y="825207"/>
                </a:cubicBezTo>
                <a:lnTo>
                  <a:pt x="24769" y="825207"/>
                </a:lnTo>
                <a:cubicBezTo>
                  <a:pt x="18200" y="825207"/>
                  <a:pt x="11900" y="822598"/>
                  <a:pt x="7255" y="817953"/>
                </a:cubicBezTo>
                <a:cubicBezTo>
                  <a:pt x="2610" y="813308"/>
                  <a:pt x="0" y="807007"/>
                  <a:pt x="0" y="800438"/>
                </a:cubicBezTo>
                <a:lnTo>
                  <a:pt x="0" y="24769"/>
                </a:lnTo>
                <a:cubicBezTo>
                  <a:pt x="0" y="18200"/>
                  <a:pt x="2610" y="11900"/>
                  <a:pt x="7255" y="7255"/>
                </a:cubicBezTo>
                <a:cubicBezTo>
                  <a:pt x="11900" y="2610"/>
                  <a:pt x="18200" y="0"/>
                  <a:pt x="2476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7867" r="-3968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930692" y="85585"/>
            <a:ext cx="6041128" cy="121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53" b="1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Key Metrics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9128754" y="5760463"/>
            <a:ext cx="8533304" cy="12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least amount of consultations appear from dashboard.</a:t>
            </a:r>
            <a:endParaRPr dirty="0"/>
          </a:p>
        </p:txBody>
      </p:sp>
      <p:sp>
        <p:nvSpPr>
          <p:cNvPr id="209" name="Google Shape;209;p20"/>
          <p:cNvSpPr txBox="1"/>
          <p:nvPr/>
        </p:nvSpPr>
        <p:spPr>
          <a:xfrm>
            <a:off x="9128754" y="2383802"/>
            <a:ext cx="8533304" cy="3121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website distribution pie chart is presented with the different websites showing count consultations through different website chanells.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9128754" y="7520904"/>
            <a:ext cx="8533304" cy="12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most amount consultations are  from </a:t>
            </a:r>
            <a:r>
              <a:rPr lang="en-US" sz="3570" b="0" i="0" u="none" strike="noStrike" cap="none" dirty="0" err="1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gurucool</a:t>
            </a:r>
            <a:r>
              <a:rPr lang="en-US" sz="3570" b="0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/>
          <p:nvPr/>
        </p:nvSpPr>
        <p:spPr>
          <a:xfrm>
            <a:off x="905495" y="656871"/>
            <a:ext cx="8045761" cy="1233493"/>
          </a:xfrm>
          <a:custGeom>
            <a:avLst/>
            <a:gdLst/>
            <a:ahLst/>
            <a:cxnLst/>
            <a:rect l="l" t="t" r="r" b="b"/>
            <a:pathLst>
              <a:path w="2935115" h="449982" extrusionOk="0">
                <a:moveTo>
                  <a:pt x="0" y="0"/>
                </a:moveTo>
                <a:lnTo>
                  <a:pt x="2935115" y="0"/>
                </a:lnTo>
                <a:lnTo>
                  <a:pt x="2935115" y="449982"/>
                </a:lnTo>
                <a:lnTo>
                  <a:pt x="0" y="4499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16" name="Google Shape;216;p21"/>
          <p:cNvGrpSpPr/>
          <p:nvPr/>
        </p:nvGrpSpPr>
        <p:grpSpPr>
          <a:xfrm>
            <a:off x="769242" y="1970176"/>
            <a:ext cx="7796486" cy="7071021"/>
            <a:chOff x="0" y="-47625"/>
            <a:chExt cx="2053395" cy="1862327"/>
          </a:xfrm>
        </p:grpSpPr>
        <p:sp>
          <p:nvSpPr>
            <p:cNvPr id="217" name="Google Shape;217;p21"/>
            <p:cNvSpPr/>
            <p:nvPr/>
          </p:nvSpPr>
          <p:spPr>
            <a:xfrm>
              <a:off x="0" y="0"/>
              <a:ext cx="2053395" cy="1814702"/>
            </a:xfrm>
            <a:custGeom>
              <a:avLst/>
              <a:gdLst/>
              <a:ahLst/>
              <a:cxnLst/>
              <a:rect l="l" t="t" r="r" b="b"/>
              <a:pathLst>
                <a:path w="2053395" h="1814702" extrusionOk="0">
                  <a:moveTo>
                    <a:pt x="50643" y="0"/>
                  </a:moveTo>
                  <a:lnTo>
                    <a:pt x="2002752" y="0"/>
                  </a:lnTo>
                  <a:cubicBezTo>
                    <a:pt x="2030722" y="0"/>
                    <a:pt x="2053395" y="22674"/>
                    <a:pt x="2053395" y="50643"/>
                  </a:cubicBezTo>
                  <a:lnTo>
                    <a:pt x="2053395" y="1764059"/>
                  </a:lnTo>
                  <a:cubicBezTo>
                    <a:pt x="2053395" y="1792028"/>
                    <a:pt x="2030722" y="1814702"/>
                    <a:pt x="2002752" y="1814702"/>
                  </a:cubicBezTo>
                  <a:lnTo>
                    <a:pt x="50643" y="1814702"/>
                  </a:lnTo>
                  <a:cubicBezTo>
                    <a:pt x="22674" y="1814702"/>
                    <a:pt x="0" y="1792028"/>
                    <a:pt x="0" y="1764059"/>
                  </a:cubicBezTo>
                  <a:lnTo>
                    <a:pt x="0" y="50643"/>
                  </a:lnTo>
                  <a:cubicBezTo>
                    <a:pt x="0" y="22674"/>
                    <a:pt x="22674" y="0"/>
                    <a:pt x="50643" y="0"/>
                  </a:cubicBezTo>
                  <a:close/>
                </a:path>
              </a:pathLst>
            </a:custGeom>
            <a:solidFill>
              <a:srgbClr val="DE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1"/>
            <p:cNvSpPr txBox="1"/>
            <p:nvPr/>
          </p:nvSpPr>
          <p:spPr>
            <a:xfrm>
              <a:off x="0" y="-47625"/>
              <a:ext cx="2053395" cy="1862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p21"/>
          <p:cNvSpPr/>
          <p:nvPr/>
        </p:nvSpPr>
        <p:spPr>
          <a:xfrm>
            <a:off x="17441250" y="656871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p21"/>
          <p:cNvSpPr/>
          <p:nvPr/>
        </p:nvSpPr>
        <p:spPr>
          <a:xfrm>
            <a:off x="1308525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Google Shape;221;p21"/>
          <p:cNvSpPr/>
          <p:nvPr/>
        </p:nvSpPr>
        <p:spPr>
          <a:xfrm>
            <a:off x="1072978" y="2442943"/>
            <a:ext cx="7189014" cy="6306313"/>
          </a:xfrm>
          <a:custGeom>
            <a:avLst/>
            <a:gdLst/>
            <a:ahLst/>
            <a:cxnLst/>
            <a:rect l="l" t="t" r="r" b="b"/>
            <a:pathLst>
              <a:path w="940712" h="825207" extrusionOk="0">
                <a:moveTo>
                  <a:pt x="24769" y="0"/>
                </a:moveTo>
                <a:lnTo>
                  <a:pt x="915943" y="0"/>
                </a:lnTo>
                <a:cubicBezTo>
                  <a:pt x="922513" y="0"/>
                  <a:pt x="928813" y="2610"/>
                  <a:pt x="933458" y="7255"/>
                </a:cubicBezTo>
                <a:cubicBezTo>
                  <a:pt x="938103" y="11900"/>
                  <a:pt x="940712" y="18200"/>
                  <a:pt x="940712" y="24769"/>
                </a:cubicBezTo>
                <a:lnTo>
                  <a:pt x="940712" y="800438"/>
                </a:lnTo>
                <a:cubicBezTo>
                  <a:pt x="940712" y="807007"/>
                  <a:pt x="938103" y="813308"/>
                  <a:pt x="933458" y="817953"/>
                </a:cubicBezTo>
                <a:cubicBezTo>
                  <a:pt x="928813" y="822598"/>
                  <a:pt x="922513" y="825207"/>
                  <a:pt x="915943" y="825207"/>
                </a:cubicBezTo>
                <a:lnTo>
                  <a:pt x="24769" y="825207"/>
                </a:lnTo>
                <a:cubicBezTo>
                  <a:pt x="18200" y="825207"/>
                  <a:pt x="11900" y="822598"/>
                  <a:pt x="7255" y="817953"/>
                </a:cubicBezTo>
                <a:cubicBezTo>
                  <a:pt x="2610" y="813308"/>
                  <a:pt x="0" y="807007"/>
                  <a:pt x="0" y="800438"/>
                </a:cubicBezTo>
                <a:lnTo>
                  <a:pt x="0" y="24769"/>
                </a:lnTo>
                <a:cubicBezTo>
                  <a:pt x="0" y="18200"/>
                  <a:pt x="2610" y="11900"/>
                  <a:pt x="7255" y="7255"/>
                </a:cubicBezTo>
                <a:cubicBezTo>
                  <a:pt x="11900" y="2610"/>
                  <a:pt x="18200" y="0"/>
                  <a:pt x="2476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1381" r="-11381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930692" y="85585"/>
            <a:ext cx="6041128" cy="121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53" b="1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Key Metrics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9128754" y="5268822"/>
            <a:ext cx="8533304" cy="597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completed calls are 25%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9128754" y="2383802"/>
            <a:ext cx="8533304" cy="249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call-status pie chart is presented with the different responses by the user i.e. the end result of consultation.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9128754" y="6430880"/>
            <a:ext cx="8533304" cy="12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There are the most amount failed calls. 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9128754" y="8049757"/>
            <a:ext cx="8533304" cy="185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NA represents the consultations done on any other consultation-type than calls.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/>
          <p:nvPr/>
        </p:nvSpPr>
        <p:spPr>
          <a:xfrm>
            <a:off x="905495" y="656871"/>
            <a:ext cx="8045761" cy="1233493"/>
          </a:xfrm>
          <a:custGeom>
            <a:avLst/>
            <a:gdLst/>
            <a:ahLst/>
            <a:cxnLst/>
            <a:rect l="l" t="t" r="r" b="b"/>
            <a:pathLst>
              <a:path w="2935115" h="449982" extrusionOk="0">
                <a:moveTo>
                  <a:pt x="0" y="0"/>
                </a:moveTo>
                <a:lnTo>
                  <a:pt x="2935115" y="0"/>
                </a:lnTo>
                <a:lnTo>
                  <a:pt x="2935115" y="449982"/>
                </a:lnTo>
                <a:lnTo>
                  <a:pt x="0" y="4499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32" name="Google Shape;232;p22"/>
          <p:cNvGrpSpPr/>
          <p:nvPr/>
        </p:nvGrpSpPr>
        <p:grpSpPr>
          <a:xfrm>
            <a:off x="769242" y="1970176"/>
            <a:ext cx="7796486" cy="7071021"/>
            <a:chOff x="0" y="-47625"/>
            <a:chExt cx="2053395" cy="1862327"/>
          </a:xfrm>
        </p:grpSpPr>
        <p:sp>
          <p:nvSpPr>
            <p:cNvPr id="233" name="Google Shape;233;p22"/>
            <p:cNvSpPr/>
            <p:nvPr/>
          </p:nvSpPr>
          <p:spPr>
            <a:xfrm>
              <a:off x="0" y="0"/>
              <a:ext cx="2053395" cy="1814702"/>
            </a:xfrm>
            <a:custGeom>
              <a:avLst/>
              <a:gdLst/>
              <a:ahLst/>
              <a:cxnLst/>
              <a:rect l="l" t="t" r="r" b="b"/>
              <a:pathLst>
                <a:path w="2053395" h="1814702" extrusionOk="0">
                  <a:moveTo>
                    <a:pt x="50643" y="0"/>
                  </a:moveTo>
                  <a:lnTo>
                    <a:pt x="2002752" y="0"/>
                  </a:lnTo>
                  <a:cubicBezTo>
                    <a:pt x="2030722" y="0"/>
                    <a:pt x="2053395" y="22674"/>
                    <a:pt x="2053395" y="50643"/>
                  </a:cubicBezTo>
                  <a:lnTo>
                    <a:pt x="2053395" y="1764059"/>
                  </a:lnTo>
                  <a:cubicBezTo>
                    <a:pt x="2053395" y="1792028"/>
                    <a:pt x="2030722" y="1814702"/>
                    <a:pt x="2002752" y="1814702"/>
                  </a:cubicBezTo>
                  <a:lnTo>
                    <a:pt x="50643" y="1814702"/>
                  </a:lnTo>
                  <a:cubicBezTo>
                    <a:pt x="22674" y="1814702"/>
                    <a:pt x="0" y="1792028"/>
                    <a:pt x="0" y="1764059"/>
                  </a:cubicBezTo>
                  <a:lnTo>
                    <a:pt x="0" y="50643"/>
                  </a:lnTo>
                  <a:cubicBezTo>
                    <a:pt x="0" y="22674"/>
                    <a:pt x="22674" y="0"/>
                    <a:pt x="50643" y="0"/>
                  </a:cubicBezTo>
                  <a:close/>
                </a:path>
              </a:pathLst>
            </a:custGeom>
            <a:solidFill>
              <a:srgbClr val="DE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2"/>
            <p:cNvSpPr txBox="1"/>
            <p:nvPr/>
          </p:nvSpPr>
          <p:spPr>
            <a:xfrm>
              <a:off x="0" y="-47625"/>
              <a:ext cx="2053395" cy="1862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22"/>
          <p:cNvSpPr/>
          <p:nvPr/>
        </p:nvSpPr>
        <p:spPr>
          <a:xfrm>
            <a:off x="17441250" y="656871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6" name="Google Shape;236;p22"/>
          <p:cNvSpPr/>
          <p:nvPr/>
        </p:nvSpPr>
        <p:spPr>
          <a:xfrm>
            <a:off x="1308525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7" name="Google Shape;237;p22"/>
          <p:cNvSpPr/>
          <p:nvPr/>
        </p:nvSpPr>
        <p:spPr>
          <a:xfrm>
            <a:off x="1072978" y="2442943"/>
            <a:ext cx="7189014" cy="6306313"/>
          </a:xfrm>
          <a:custGeom>
            <a:avLst/>
            <a:gdLst/>
            <a:ahLst/>
            <a:cxnLst/>
            <a:rect l="l" t="t" r="r" b="b"/>
            <a:pathLst>
              <a:path w="940712" h="825207" extrusionOk="0">
                <a:moveTo>
                  <a:pt x="24769" y="0"/>
                </a:moveTo>
                <a:lnTo>
                  <a:pt x="915943" y="0"/>
                </a:lnTo>
                <a:cubicBezTo>
                  <a:pt x="922513" y="0"/>
                  <a:pt x="928813" y="2610"/>
                  <a:pt x="933458" y="7255"/>
                </a:cubicBezTo>
                <a:cubicBezTo>
                  <a:pt x="938103" y="11900"/>
                  <a:pt x="940712" y="18200"/>
                  <a:pt x="940712" y="24769"/>
                </a:cubicBezTo>
                <a:lnTo>
                  <a:pt x="940712" y="800438"/>
                </a:lnTo>
                <a:cubicBezTo>
                  <a:pt x="940712" y="807007"/>
                  <a:pt x="938103" y="813308"/>
                  <a:pt x="933458" y="817953"/>
                </a:cubicBezTo>
                <a:cubicBezTo>
                  <a:pt x="928813" y="822598"/>
                  <a:pt x="922513" y="825207"/>
                  <a:pt x="915943" y="825207"/>
                </a:cubicBezTo>
                <a:lnTo>
                  <a:pt x="24769" y="825207"/>
                </a:lnTo>
                <a:cubicBezTo>
                  <a:pt x="18200" y="825207"/>
                  <a:pt x="11900" y="822598"/>
                  <a:pt x="7255" y="817953"/>
                </a:cubicBezTo>
                <a:cubicBezTo>
                  <a:pt x="2610" y="813308"/>
                  <a:pt x="0" y="807007"/>
                  <a:pt x="0" y="800438"/>
                </a:cubicBezTo>
                <a:lnTo>
                  <a:pt x="0" y="24769"/>
                </a:lnTo>
                <a:cubicBezTo>
                  <a:pt x="0" y="18200"/>
                  <a:pt x="2610" y="11900"/>
                  <a:pt x="7255" y="7255"/>
                </a:cubicBezTo>
                <a:cubicBezTo>
                  <a:pt x="11900" y="2610"/>
                  <a:pt x="18200" y="0"/>
                  <a:pt x="2476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694" r="-8694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930692" y="85585"/>
            <a:ext cx="6041128" cy="121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53" b="1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Key Metrics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9128754" y="5268822"/>
            <a:ext cx="8533304" cy="597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completed chats are 20%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9128754" y="2383802"/>
            <a:ext cx="8533304" cy="249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chat-status pie chart is presented with the different responses by the user i.e. the end result of consultation.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9128754" y="6430880"/>
            <a:ext cx="8533304" cy="12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There are the most amount failed chats. 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9128754" y="8049757"/>
            <a:ext cx="8533304" cy="185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On call represents the consultations done on any other consultation-type than calls.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/>
          <p:nvPr/>
        </p:nvSpPr>
        <p:spPr>
          <a:xfrm>
            <a:off x="905495" y="656871"/>
            <a:ext cx="8045761" cy="1233493"/>
          </a:xfrm>
          <a:custGeom>
            <a:avLst/>
            <a:gdLst/>
            <a:ahLst/>
            <a:cxnLst/>
            <a:rect l="l" t="t" r="r" b="b"/>
            <a:pathLst>
              <a:path w="2935115" h="449982" extrusionOk="0">
                <a:moveTo>
                  <a:pt x="0" y="0"/>
                </a:moveTo>
                <a:lnTo>
                  <a:pt x="2935115" y="0"/>
                </a:lnTo>
                <a:lnTo>
                  <a:pt x="2935115" y="449982"/>
                </a:lnTo>
                <a:lnTo>
                  <a:pt x="0" y="4499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48" name="Google Shape;248;p23"/>
          <p:cNvGrpSpPr/>
          <p:nvPr/>
        </p:nvGrpSpPr>
        <p:grpSpPr>
          <a:xfrm>
            <a:off x="769242" y="2011727"/>
            <a:ext cx="8051406" cy="5446223"/>
            <a:chOff x="0" y="-47625"/>
            <a:chExt cx="2753164" cy="1862327"/>
          </a:xfrm>
        </p:grpSpPr>
        <p:sp>
          <p:nvSpPr>
            <p:cNvPr id="249" name="Google Shape;249;p23"/>
            <p:cNvSpPr/>
            <p:nvPr/>
          </p:nvSpPr>
          <p:spPr>
            <a:xfrm>
              <a:off x="0" y="0"/>
              <a:ext cx="2753164" cy="1814702"/>
            </a:xfrm>
            <a:custGeom>
              <a:avLst/>
              <a:gdLst/>
              <a:ahLst/>
              <a:cxnLst/>
              <a:rect l="l" t="t" r="r" b="b"/>
              <a:pathLst>
                <a:path w="2753164" h="1814702" extrusionOk="0">
                  <a:moveTo>
                    <a:pt x="49040" y="0"/>
                  </a:moveTo>
                  <a:lnTo>
                    <a:pt x="2704125" y="0"/>
                  </a:lnTo>
                  <a:cubicBezTo>
                    <a:pt x="2731208" y="0"/>
                    <a:pt x="2753164" y="21956"/>
                    <a:pt x="2753164" y="49040"/>
                  </a:cubicBezTo>
                  <a:lnTo>
                    <a:pt x="2753164" y="1765662"/>
                  </a:lnTo>
                  <a:cubicBezTo>
                    <a:pt x="2753164" y="1778668"/>
                    <a:pt x="2747998" y="1791142"/>
                    <a:pt x="2738801" y="1800338"/>
                  </a:cubicBezTo>
                  <a:cubicBezTo>
                    <a:pt x="2729604" y="1809535"/>
                    <a:pt x="2717131" y="1814702"/>
                    <a:pt x="2704125" y="1814702"/>
                  </a:cubicBezTo>
                  <a:lnTo>
                    <a:pt x="49040" y="1814702"/>
                  </a:lnTo>
                  <a:cubicBezTo>
                    <a:pt x="36034" y="1814702"/>
                    <a:pt x="23560" y="1809535"/>
                    <a:pt x="14363" y="1800338"/>
                  </a:cubicBezTo>
                  <a:cubicBezTo>
                    <a:pt x="5167" y="1791142"/>
                    <a:pt x="0" y="1778668"/>
                    <a:pt x="0" y="1765662"/>
                  </a:cubicBezTo>
                  <a:lnTo>
                    <a:pt x="0" y="49040"/>
                  </a:lnTo>
                  <a:cubicBezTo>
                    <a:pt x="0" y="36034"/>
                    <a:pt x="5167" y="23560"/>
                    <a:pt x="14363" y="14363"/>
                  </a:cubicBezTo>
                  <a:cubicBezTo>
                    <a:pt x="23560" y="5167"/>
                    <a:pt x="36034" y="0"/>
                    <a:pt x="49040" y="0"/>
                  </a:cubicBezTo>
                  <a:close/>
                </a:path>
              </a:pathLst>
            </a:custGeom>
            <a:solidFill>
              <a:srgbClr val="DE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3"/>
            <p:cNvSpPr txBox="1"/>
            <p:nvPr/>
          </p:nvSpPr>
          <p:spPr>
            <a:xfrm>
              <a:off x="0" y="-47625"/>
              <a:ext cx="2753164" cy="1862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23"/>
          <p:cNvSpPr/>
          <p:nvPr/>
        </p:nvSpPr>
        <p:spPr>
          <a:xfrm>
            <a:off x="17441250" y="656871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2" name="Google Shape;252;p23"/>
          <p:cNvSpPr/>
          <p:nvPr/>
        </p:nvSpPr>
        <p:spPr>
          <a:xfrm>
            <a:off x="1308525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4" name="Google Shape;254;p23"/>
          <p:cNvSpPr txBox="1"/>
          <p:nvPr/>
        </p:nvSpPr>
        <p:spPr>
          <a:xfrm>
            <a:off x="5930692" y="85585"/>
            <a:ext cx="6041128" cy="121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53" b="1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Key Metrics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8951256" y="4376083"/>
            <a:ext cx="8533304" cy="12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ratings of Gurus that consulted on chats is better than on calls.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9128754" y="2383802"/>
            <a:ext cx="8533304" cy="12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column chart represents the rating-wise guru distribution.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8951256" y="6229598"/>
            <a:ext cx="8533304" cy="185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calls consultation needs to be worked on and improve to increase the quality of consultation.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61F731-2B76-FBCC-BC58-28D1E28CD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373" y="2421244"/>
            <a:ext cx="7511143" cy="4766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/>
          <p:nvPr/>
        </p:nvSpPr>
        <p:spPr>
          <a:xfrm>
            <a:off x="905495" y="656871"/>
            <a:ext cx="8045761" cy="1233493"/>
          </a:xfrm>
          <a:custGeom>
            <a:avLst/>
            <a:gdLst/>
            <a:ahLst/>
            <a:cxnLst/>
            <a:rect l="l" t="t" r="r" b="b"/>
            <a:pathLst>
              <a:path w="2935115" h="449982" extrusionOk="0">
                <a:moveTo>
                  <a:pt x="0" y="0"/>
                </a:moveTo>
                <a:lnTo>
                  <a:pt x="2935115" y="0"/>
                </a:lnTo>
                <a:lnTo>
                  <a:pt x="2935115" y="449982"/>
                </a:lnTo>
                <a:lnTo>
                  <a:pt x="0" y="4499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63" name="Google Shape;263;p24"/>
          <p:cNvGrpSpPr/>
          <p:nvPr/>
        </p:nvGrpSpPr>
        <p:grpSpPr>
          <a:xfrm>
            <a:off x="411329" y="2224276"/>
            <a:ext cx="8732671" cy="6513542"/>
            <a:chOff x="0" y="-47625"/>
            <a:chExt cx="2986122" cy="2227294"/>
          </a:xfrm>
          <a:solidFill>
            <a:schemeClr val="accent6">
              <a:lumMod val="75000"/>
            </a:schemeClr>
          </a:solidFill>
        </p:grpSpPr>
        <p:sp>
          <p:nvSpPr>
            <p:cNvPr id="264" name="Google Shape;264;p24"/>
            <p:cNvSpPr/>
            <p:nvPr/>
          </p:nvSpPr>
          <p:spPr>
            <a:xfrm>
              <a:off x="0" y="0"/>
              <a:ext cx="2986122" cy="2179669"/>
            </a:xfrm>
            <a:custGeom>
              <a:avLst/>
              <a:gdLst/>
              <a:ahLst/>
              <a:cxnLst/>
              <a:rect l="l" t="t" r="r" b="b"/>
              <a:pathLst>
                <a:path w="2986122" h="2179669" extrusionOk="0">
                  <a:moveTo>
                    <a:pt x="45214" y="0"/>
                  </a:moveTo>
                  <a:lnTo>
                    <a:pt x="2940908" y="0"/>
                  </a:lnTo>
                  <a:cubicBezTo>
                    <a:pt x="2952899" y="0"/>
                    <a:pt x="2964400" y="4764"/>
                    <a:pt x="2972879" y="13243"/>
                  </a:cubicBezTo>
                  <a:cubicBezTo>
                    <a:pt x="2981358" y="21722"/>
                    <a:pt x="2986122" y="33222"/>
                    <a:pt x="2986122" y="45214"/>
                  </a:cubicBezTo>
                  <a:lnTo>
                    <a:pt x="2986122" y="2134455"/>
                  </a:lnTo>
                  <a:cubicBezTo>
                    <a:pt x="2986122" y="2159426"/>
                    <a:pt x="2965879" y="2179669"/>
                    <a:pt x="2940908" y="2179669"/>
                  </a:cubicBezTo>
                  <a:lnTo>
                    <a:pt x="45214" y="2179669"/>
                  </a:lnTo>
                  <a:cubicBezTo>
                    <a:pt x="20243" y="2179669"/>
                    <a:pt x="0" y="2159426"/>
                    <a:pt x="0" y="2134455"/>
                  </a:cubicBezTo>
                  <a:lnTo>
                    <a:pt x="0" y="45214"/>
                  </a:lnTo>
                  <a:cubicBezTo>
                    <a:pt x="0" y="33222"/>
                    <a:pt x="4764" y="21722"/>
                    <a:pt x="13243" y="13243"/>
                  </a:cubicBezTo>
                  <a:cubicBezTo>
                    <a:pt x="21722" y="4764"/>
                    <a:pt x="33222" y="0"/>
                    <a:pt x="452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4"/>
            <p:cNvSpPr txBox="1"/>
            <p:nvPr/>
          </p:nvSpPr>
          <p:spPr>
            <a:xfrm>
              <a:off x="0" y="-47625"/>
              <a:ext cx="2986122" cy="2227293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p24"/>
          <p:cNvSpPr/>
          <p:nvPr/>
        </p:nvSpPr>
        <p:spPr>
          <a:xfrm>
            <a:off x="17441250" y="656871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7" name="Google Shape;267;p24"/>
          <p:cNvSpPr/>
          <p:nvPr/>
        </p:nvSpPr>
        <p:spPr>
          <a:xfrm>
            <a:off x="1308525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9" name="Google Shape;269;p24"/>
          <p:cNvSpPr txBox="1"/>
          <p:nvPr/>
        </p:nvSpPr>
        <p:spPr>
          <a:xfrm>
            <a:off x="5930692" y="85585"/>
            <a:ext cx="6041128" cy="121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53" b="1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Key Metrics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9128754" y="4322330"/>
            <a:ext cx="8533304" cy="185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ratings of users who were consulted on chats is better than on calls.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9128754" y="2383802"/>
            <a:ext cx="8533304" cy="12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column chart represents the rating-wise user distribution.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9128754" y="6442146"/>
            <a:ext cx="8533304" cy="185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calls consultation needs to be worked on and improve to increase the quality of consultation.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D0FDC4-3FE4-F771-2651-44A509032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2" y="2541902"/>
            <a:ext cx="8340560" cy="58782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/>
          <p:nvPr/>
        </p:nvSpPr>
        <p:spPr>
          <a:xfrm>
            <a:off x="905495" y="656871"/>
            <a:ext cx="8045761" cy="1233493"/>
          </a:xfrm>
          <a:custGeom>
            <a:avLst/>
            <a:gdLst/>
            <a:ahLst/>
            <a:cxnLst/>
            <a:rect l="l" t="t" r="r" b="b"/>
            <a:pathLst>
              <a:path w="2935115" h="449982" extrusionOk="0">
                <a:moveTo>
                  <a:pt x="0" y="0"/>
                </a:moveTo>
                <a:lnTo>
                  <a:pt x="2935115" y="0"/>
                </a:lnTo>
                <a:lnTo>
                  <a:pt x="2935115" y="449982"/>
                </a:lnTo>
                <a:lnTo>
                  <a:pt x="0" y="4499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78" name="Google Shape;278;p25"/>
          <p:cNvGrpSpPr/>
          <p:nvPr/>
        </p:nvGrpSpPr>
        <p:grpSpPr>
          <a:xfrm>
            <a:off x="411329" y="2242302"/>
            <a:ext cx="9065368" cy="5670503"/>
            <a:chOff x="0" y="-47625"/>
            <a:chExt cx="3560750" cy="2227294"/>
          </a:xfrm>
        </p:grpSpPr>
        <p:sp>
          <p:nvSpPr>
            <p:cNvPr id="279" name="Google Shape;279;p25"/>
            <p:cNvSpPr/>
            <p:nvPr/>
          </p:nvSpPr>
          <p:spPr>
            <a:xfrm>
              <a:off x="0" y="0"/>
              <a:ext cx="3560750" cy="2179669"/>
            </a:xfrm>
            <a:custGeom>
              <a:avLst/>
              <a:gdLst/>
              <a:ahLst/>
              <a:cxnLst/>
              <a:rect l="l" t="t" r="r" b="b"/>
              <a:pathLst>
                <a:path w="3560750" h="2179669" extrusionOk="0">
                  <a:moveTo>
                    <a:pt x="43555" y="0"/>
                  </a:moveTo>
                  <a:lnTo>
                    <a:pt x="3517195" y="0"/>
                  </a:lnTo>
                  <a:cubicBezTo>
                    <a:pt x="3528747" y="0"/>
                    <a:pt x="3539825" y="4589"/>
                    <a:pt x="3547993" y="12757"/>
                  </a:cubicBezTo>
                  <a:cubicBezTo>
                    <a:pt x="3556161" y="20925"/>
                    <a:pt x="3560750" y="32003"/>
                    <a:pt x="3560750" y="43555"/>
                  </a:cubicBezTo>
                  <a:lnTo>
                    <a:pt x="3560750" y="2136114"/>
                  </a:lnTo>
                  <a:cubicBezTo>
                    <a:pt x="3560750" y="2147665"/>
                    <a:pt x="3556161" y="2158744"/>
                    <a:pt x="3547993" y="2166912"/>
                  </a:cubicBezTo>
                  <a:cubicBezTo>
                    <a:pt x="3539825" y="2175080"/>
                    <a:pt x="3528747" y="2179669"/>
                    <a:pt x="3517195" y="2179669"/>
                  </a:cubicBezTo>
                  <a:lnTo>
                    <a:pt x="43555" y="2179669"/>
                  </a:lnTo>
                  <a:cubicBezTo>
                    <a:pt x="19500" y="2179669"/>
                    <a:pt x="0" y="2160169"/>
                    <a:pt x="0" y="2136114"/>
                  </a:cubicBezTo>
                  <a:lnTo>
                    <a:pt x="0" y="43555"/>
                  </a:lnTo>
                  <a:cubicBezTo>
                    <a:pt x="0" y="32003"/>
                    <a:pt x="4589" y="20925"/>
                    <a:pt x="12757" y="12757"/>
                  </a:cubicBezTo>
                  <a:cubicBezTo>
                    <a:pt x="20925" y="4589"/>
                    <a:pt x="32003" y="0"/>
                    <a:pt x="43555" y="0"/>
                  </a:cubicBezTo>
                  <a:close/>
                </a:path>
              </a:pathLst>
            </a:custGeom>
            <a:solidFill>
              <a:srgbClr val="DE57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5"/>
            <p:cNvSpPr txBox="1"/>
            <p:nvPr/>
          </p:nvSpPr>
          <p:spPr>
            <a:xfrm>
              <a:off x="0" y="-47625"/>
              <a:ext cx="3560750" cy="2227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" name="Google Shape;281;p25"/>
          <p:cNvSpPr/>
          <p:nvPr/>
        </p:nvSpPr>
        <p:spPr>
          <a:xfrm>
            <a:off x="17441250" y="656871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1"/>
                </a:lnTo>
                <a:lnTo>
                  <a:pt x="0" y="633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2" name="Google Shape;282;p25"/>
          <p:cNvSpPr/>
          <p:nvPr/>
        </p:nvSpPr>
        <p:spPr>
          <a:xfrm>
            <a:off x="1308525" y="491754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6" y="0"/>
                </a:lnTo>
                <a:lnTo>
                  <a:pt x="441616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4" name="Google Shape;284;p25"/>
          <p:cNvSpPr txBox="1"/>
          <p:nvPr/>
        </p:nvSpPr>
        <p:spPr>
          <a:xfrm>
            <a:off x="5930692" y="349221"/>
            <a:ext cx="6041128" cy="121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53" b="1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Key Metrics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9476697" y="4275887"/>
            <a:ext cx="8533304" cy="185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7.5 is the average highest rating received by the Tarot Mystical and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       Astro Puja Rai.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9476697" y="2760577"/>
            <a:ext cx="8533304" cy="153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column chart represents the Top-rated Gurus.</a:t>
            </a:r>
            <a:endParaRPr dirty="0"/>
          </a:p>
        </p:txBody>
      </p:sp>
      <p:sp>
        <p:nvSpPr>
          <p:cNvPr id="287" name="Google Shape;287;p25"/>
          <p:cNvSpPr txBox="1"/>
          <p:nvPr/>
        </p:nvSpPr>
        <p:spPr>
          <a:xfrm>
            <a:off x="9476697" y="6420937"/>
            <a:ext cx="8533304" cy="12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70869" marR="0" lvl="1" indent="-385434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3570"/>
              <a:buFont typeface="Arial"/>
              <a:buChar char="•"/>
            </a:pPr>
            <a:r>
              <a:rPr lang="en-US" sz="3570" b="0" i="0" u="none" strike="noStrike" cap="none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The average rating of the Top 10 Gurus is 5.5.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700C34-7005-9FB3-2704-BD3C9AFFA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14" y="2569216"/>
            <a:ext cx="8533304" cy="50800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/>
          <p:nvPr/>
        </p:nvSpPr>
        <p:spPr>
          <a:xfrm>
            <a:off x="17476241" y="5245482"/>
            <a:ext cx="441616" cy="633141"/>
          </a:xfrm>
          <a:custGeom>
            <a:avLst/>
            <a:gdLst/>
            <a:ahLst/>
            <a:cxnLst/>
            <a:rect l="l" t="t" r="r" b="b"/>
            <a:pathLst>
              <a:path w="441616" h="633141" extrusionOk="0">
                <a:moveTo>
                  <a:pt x="0" y="0"/>
                </a:moveTo>
                <a:lnTo>
                  <a:pt x="441615" y="0"/>
                </a:lnTo>
                <a:lnTo>
                  <a:pt x="441615" y="633140"/>
                </a:lnTo>
                <a:lnTo>
                  <a:pt x="0" y="633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41340-E16A-63FA-E07F-802B92831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44" y="217714"/>
            <a:ext cx="16365898" cy="93617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27412" y="1602072"/>
            <a:ext cx="7558976" cy="7065798"/>
            <a:chOff x="0" y="0"/>
            <a:chExt cx="1990842" cy="18609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90841" cy="1860951"/>
            </a:xfrm>
            <a:custGeom>
              <a:avLst/>
              <a:gdLst/>
              <a:ahLst/>
              <a:cxnLst/>
              <a:rect l="l" t="t" r="r" b="b"/>
              <a:pathLst>
                <a:path w="1990841" h="1860951">
                  <a:moveTo>
                    <a:pt x="52234" y="0"/>
                  </a:moveTo>
                  <a:lnTo>
                    <a:pt x="1938607" y="0"/>
                  </a:lnTo>
                  <a:cubicBezTo>
                    <a:pt x="1967455" y="0"/>
                    <a:pt x="1990841" y="23386"/>
                    <a:pt x="1990841" y="52234"/>
                  </a:cubicBezTo>
                  <a:lnTo>
                    <a:pt x="1990841" y="1808717"/>
                  </a:lnTo>
                  <a:cubicBezTo>
                    <a:pt x="1990841" y="1837565"/>
                    <a:pt x="1967455" y="1860951"/>
                    <a:pt x="1938607" y="1860951"/>
                  </a:cubicBezTo>
                  <a:lnTo>
                    <a:pt x="52234" y="1860951"/>
                  </a:lnTo>
                  <a:cubicBezTo>
                    <a:pt x="38381" y="1860951"/>
                    <a:pt x="25095" y="1855448"/>
                    <a:pt x="15299" y="1845652"/>
                  </a:cubicBezTo>
                  <a:cubicBezTo>
                    <a:pt x="5503" y="1835856"/>
                    <a:pt x="0" y="1822570"/>
                    <a:pt x="0" y="1808717"/>
                  </a:cubicBezTo>
                  <a:lnTo>
                    <a:pt x="0" y="52234"/>
                  </a:lnTo>
                  <a:cubicBezTo>
                    <a:pt x="0" y="38381"/>
                    <a:pt x="5503" y="25095"/>
                    <a:pt x="15299" y="15299"/>
                  </a:cubicBezTo>
                  <a:cubicBezTo>
                    <a:pt x="25095" y="5503"/>
                    <a:pt x="38381" y="0"/>
                    <a:pt x="52234" y="0"/>
                  </a:cubicBezTo>
                  <a:close/>
                </a:path>
              </a:pathLst>
            </a:custGeom>
            <a:solidFill>
              <a:srgbClr val="DE570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990842" cy="1908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02232" y="1875938"/>
            <a:ext cx="7057068" cy="6540774"/>
            <a:chOff x="0" y="0"/>
            <a:chExt cx="1093324" cy="10133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93324" cy="1013337"/>
            </a:xfrm>
            <a:custGeom>
              <a:avLst/>
              <a:gdLst/>
              <a:ahLst/>
              <a:cxnLst/>
              <a:rect l="l" t="t" r="r" b="b"/>
              <a:pathLst>
                <a:path w="1093324" h="1013337">
                  <a:moveTo>
                    <a:pt x="25232" y="0"/>
                  </a:moveTo>
                  <a:lnTo>
                    <a:pt x="1068092" y="0"/>
                  </a:lnTo>
                  <a:cubicBezTo>
                    <a:pt x="1082028" y="0"/>
                    <a:pt x="1093324" y="11297"/>
                    <a:pt x="1093324" y="25232"/>
                  </a:cubicBezTo>
                  <a:lnTo>
                    <a:pt x="1093324" y="988105"/>
                  </a:lnTo>
                  <a:cubicBezTo>
                    <a:pt x="1093324" y="1002040"/>
                    <a:pt x="1082028" y="1013337"/>
                    <a:pt x="1068092" y="1013337"/>
                  </a:cubicBezTo>
                  <a:lnTo>
                    <a:pt x="25232" y="1013337"/>
                  </a:lnTo>
                  <a:cubicBezTo>
                    <a:pt x="11297" y="1013337"/>
                    <a:pt x="0" y="1002040"/>
                    <a:pt x="0" y="988105"/>
                  </a:cubicBezTo>
                  <a:lnTo>
                    <a:pt x="0" y="25232"/>
                  </a:lnTo>
                  <a:cubicBezTo>
                    <a:pt x="0" y="11297"/>
                    <a:pt x="11297" y="0"/>
                    <a:pt x="25232" y="0"/>
                  </a:cubicBezTo>
                  <a:close/>
                </a:path>
              </a:pathLst>
            </a:custGeom>
            <a:blipFill>
              <a:blip r:embed="rId2"/>
              <a:stretch>
                <a:fillRect l="-19513" r="-19513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5982167" y="173986"/>
            <a:ext cx="6323667" cy="70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9"/>
              </a:lnSpc>
            </a:pPr>
            <a:r>
              <a:rPr lang="en-US" sz="4749" b="1" dirty="0">
                <a:solidFill>
                  <a:schemeClr val="accent6">
                    <a:lumMod val="75000"/>
                  </a:schemeClr>
                </a:solidFill>
                <a:latin typeface="Telegraf Bold"/>
                <a:ea typeface="Telegraf Bold"/>
                <a:cs typeface="Telegraf Bold"/>
                <a:sym typeface="Telegraf Bold"/>
              </a:rPr>
              <a:t>Strategic Initiatives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9600" y="1602072"/>
            <a:ext cx="8689823" cy="8681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1. Enhance Technology &amp; User Experience</a:t>
            </a:r>
          </a:p>
          <a:p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Improve app/dashboard performance to increase user engagement </a:t>
            </a:r>
          </a:p>
          <a:p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Reduce cancelled and failed consultations to boost profitability </a:t>
            </a:r>
          </a:p>
          <a:p>
            <a:br>
              <a:rPr lang="en-US" sz="3000" dirty="0">
                <a:solidFill>
                  <a:schemeClr val="accent6">
                    <a:lumMod val="75000"/>
                  </a:schemeClr>
                </a:solidFill>
              </a:rPr>
            </a:br>
            <a:endParaRPr lang="en-US" sz="3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 2. Optimize Operations &amp; Cost Efficiency</a:t>
            </a:r>
          </a:p>
          <a:p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Focus on call consultations to drive higher revenue </a:t>
            </a:r>
          </a:p>
          <a:p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Use chatbots/virtual assistants for basic queries to reduce consultant workload and operational costs </a:t>
            </a:r>
          </a:p>
          <a:p>
            <a:br>
              <a:rPr lang="en-US" sz="3000" dirty="0">
                <a:solidFill>
                  <a:schemeClr val="accent6">
                    <a:lumMod val="75000"/>
                  </a:schemeClr>
                </a:solidFill>
              </a:rPr>
            </a:br>
            <a:endParaRPr lang="en-US" sz="3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 3. Improve Service Quality &amp; Consistency</a:t>
            </a:r>
          </a:p>
          <a:p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Allow users to choose consultants and collect feedback </a:t>
            </a:r>
          </a:p>
          <a:p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Share top-rated session recordings and conduct regular training to maintain quality standards </a:t>
            </a:r>
          </a:p>
          <a:p>
            <a:pPr marL="447467" lvl="1" indent="-223733" algn="l">
              <a:lnSpc>
                <a:spcPts val="2901"/>
              </a:lnSpc>
              <a:buFont typeface="Arial"/>
              <a:buChar char="•"/>
            </a:pPr>
            <a:endParaRPr lang="en-US" sz="3000" b="1" dirty="0">
              <a:solidFill>
                <a:schemeClr val="accent6">
                  <a:lumMod val="75000"/>
                </a:schemeClr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1BF888-4378-1C48-50C4-565EE9705284}"/>
              </a:ext>
            </a:extLst>
          </p:cNvPr>
          <p:cNvSpPr txBox="1"/>
          <p:nvPr/>
        </p:nvSpPr>
        <p:spPr>
          <a:xfrm>
            <a:off x="4147457" y="467796"/>
            <a:ext cx="9296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75000"/>
                  </a:schemeClr>
                </a:solidFill>
              </a:rPr>
              <a:t>RECOMMENDATIONS</a:t>
            </a:r>
            <a:endParaRPr lang="en-IN" sz="66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E5C10-602F-9A6D-4B4A-636859B67778}"/>
              </a:ext>
            </a:extLst>
          </p:cNvPr>
          <p:cNvSpPr txBox="1"/>
          <p:nvPr/>
        </p:nvSpPr>
        <p:spPr>
          <a:xfrm>
            <a:off x="457200" y="2247900"/>
            <a:ext cx="156972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Upgrade Technology: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 Improve app and dashboard performance to increase user engagement and reduce failed or cancelled consultations. </a:t>
            </a:r>
          </a:p>
          <a:p>
            <a:endParaRPr lang="en-US" sz="3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Implement Pre-booking and CRM Systems: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 Enhance efficiency and reduce repetitive processes. </a:t>
            </a:r>
          </a:p>
          <a:p>
            <a:endParaRPr lang="en-US" sz="3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Use Chatbots and Virtual Assistants: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 Handle basic queries to lower operational costs and free consultants for peak hours. </a:t>
            </a:r>
          </a:p>
          <a:p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Focus on Call Consultations: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 Drive higher revenue and improve customer interaction. </a:t>
            </a:r>
          </a:p>
          <a:p>
            <a:endParaRPr lang="en-US" sz="3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Enable Consultant Selection and Feedback: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 Allow customers to choose consultants and provide feedback to build trust. </a:t>
            </a:r>
          </a:p>
          <a:p>
            <a:endParaRPr lang="en-US" sz="30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3000" b="1" dirty="0">
                <a:solidFill>
                  <a:schemeClr val="accent6">
                    <a:lumMod val="75000"/>
                  </a:schemeClr>
                </a:solidFill>
              </a:rPr>
              <a:t>Ensure Training and Quality Consistency:</a:t>
            </a:r>
            <a:r>
              <a:rPr lang="en-US" sz="3000" dirty="0">
                <a:solidFill>
                  <a:schemeClr val="accent6">
                    <a:lumMod val="75000"/>
                  </a:schemeClr>
                </a:solidFill>
              </a:rPr>
              <a:t> Share top-rated session recordings and conduct regular training to maintain service standards.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"/>
          <p:cNvSpPr txBox="1"/>
          <p:nvPr/>
        </p:nvSpPr>
        <p:spPr>
          <a:xfrm>
            <a:off x="1028700" y="1139825"/>
            <a:ext cx="9138900" cy="82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01544" marR="0" lvl="1" indent="-276261" algn="l" rtl="0">
              <a:lnSpc>
                <a:spcPct val="153984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Upgrading technology and streamlining operations can enhance profitability and customer satisfaction.</a:t>
            </a:r>
            <a:endParaRPr sz="2400" dirty="0"/>
          </a:p>
          <a:p>
            <a:pPr marL="0" marR="0" lvl="0" indent="0" algn="l" rtl="0">
              <a:lnSpc>
                <a:spcPct val="15398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dirty="0">
              <a:solidFill>
                <a:srgbClr val="DE57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1544" marR="0" lvl="1" indent="-276261" algn="l" rtl="0">
              <a:lnSpc>
                <a:spcPct val="153984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Introducing pre-booking and CRM systems will improve efficiency and reduce repetitive processes.  </a:t>
            </a:r>
            <a:endParaRPr sz="2400" dirty="0"/>
          </a:p>
          <a:p>
            <a:pPr marL="0" marR="0" lvl="0" indent="0" algn="l" rtl="0">
              <a:lnSpc>
                <a:spcPct val="15398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dirty="0">
              <a:solidFill>
                <a:srgbClr val="DE57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1544" marR="0" lvl="1" indent="-276261" algn="l" rtl="0">
              <a:lnSpc>
                <a:spcPct val="153984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Using chatbots for general queries will lower operational costs and reserve consultants for peak hours.</a:t>
            </a:r>
            <a:endParaRPr sz="2400" dirty="0"/>
          </a:p>
          <a:p>
            <a:pPr marL="0" marR="0" lvl="0" indent="0" algn="l" rtl="0">
              <a:lnSpc>
                <a:spcPct val="15398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dirty="0">
              <a:solidFill>
                <a:srgbClr val="DE57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1544" marR="0" lvl="1" indent="-276261" algn="l" rtl="0">
              <a:lnSpc>
                <a:spcPct val="153984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Focusing on call consultations can increase revenue and customer engagement.</a:t>
            </a:r>
            <a:endParaRPr sz="2400" dirty="0"/>
          </a:p>
          <a:p>
            <a:pPr marL="0" marR="0" lvl="0" indent="0" algn="l" rtl="0">
              <a:lnSpc>
                <a:spcPct val="10405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dirty="0">
              <a:solidFill>
                <a:srgbClr val="DE570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1544" marR="0" lvl="1" indent="-276261" algn="l" rtl="0">
              <a:lnSpc>
                <a:spcPct val="153984"/>
              </a:lnSpc>
              <a:spcBef>
                <a:spcPts val="0"/>
              </a:spcBef>
              <a:spcAft>
                <a:spcPts val="0"/>
              </a:spcAft>
              <a:buClr>
                <a:srgbClr val="DE570E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DE570E"/>
                </a:solidFill>
                <a:latin typeface="Arial"/>
                <a:ea typeface="Arial"/>
                <a:cs typeface="Arial"/>
                <a:sym typeface="Arial"/>
              </a:rPr>
              <a:t>Allowing customers to choose consultants and collecting feedback will build trust and loyalty.</a:t>
            </a:r>
            <a:endParaRPr sz="2400" dirty="0"/>
          </a:p>
          <a:p>
            <a:pPr marL="0" marR="0" lvl="0" indent="0" algn="l" rtl="0">
              <a:lnSpc>
                <a:spcPct val="15398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86" b="1" i="0" u="none" strike="noStrike" cap="none" dirty="0">
              <a:solidFill>
                <a:srgbClr val="DE57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8"/>
          <p:cNvSpPr txBox="1"/>
          <p:nvPr/>
        </p:nvSpPr>
        <p:spPr>
          <a:xfrm>
            <a:off x="6103567" y="0"/>
            <a:ext cx="567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chemeClr val="accent6">
                    <a:lumMod val="75000"/>
                  </a:schemeClr>
                </a:solidFill>
              </a:rPr>
              <a:t>Conclusion</a:t>
            </a:r>
            <a:endParaRPr sz="6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858</Words>
  <Application>Microsoft Office PowerPoint</Application>
  <PresentationFormat>Custom</PresentationFormat>
  <Paragraphs>91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Telegraf Bold</vt:lpstr>
      <vt:lpstr>DM Sans</vt:lpstr>
      <vt:lpstr>Calibri</vt:lpstr>
      <vt:lpstr>Canva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Sunny Kumar</dc:creator>
  <cp:lastModifiedBy>Ram kumar</cp:lastModifiedBy>
  <cp:revision>11</cp:revision>
  <dcterms:modified xsi:type="dcterms:W3CDTF">2026-09-30T04:15:48Z</dcterms:modified>
</cp:coreProperties>
</file>